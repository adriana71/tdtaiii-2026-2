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5"/>
  </p:notesMasterIdLst>
  <p:sldIdLst>
    <p:sldId id="256" r:id="rId2"/>
    <p:sldId id="257" r:id="rId3"/>
    <p:sldId id="276" r:id="rId4"/>
    <p:sldId id="277" r:id="rId5"/>
    <p:sldId id="278" r:id="rId6"/>
    <p:sldId id="279" r:id="rId7"/>
    <p:sldId id="280" r:id="rId8"/>
    <p:sldId id="281" r:id="rId9"/>
    <p:sldId id="282" r:id="rId10"/>
    <p:sldId id="289" r:id="rId11"/>
    <p:sldId id="290" r:id="rId12"/>
    <p:sldId id="291" r:id="rId13"/>
    <p:sldId id="292" r:id="rId14"/>
    <p:sldId id="293" r:id="rId15"/>
    <p:sldId id="294" r:id="rId16"/>
    <p:sldId id="296" r:id="rId17"/>
    <p:sldId id="297" r:id="rId18"/>
    <p:sldId id="298" r:id="rId19"/>
    <p:sldId id="299" r:id="rId20"/>
    <p:sldId id="300" r:id="rId21"/>
    <p:sldId id="258" r:id="rId22"/>
    <p:sldId id="259" r:id="rId23"/>
    <p:sldId id="260" r:id="rId24"/>
    <p:sldId id="261" r:id="rId25"/>
    <p:sldId id="262" r:id="rId26"/>
    <p:sldId id="263" r:id="rId27"/>
    <p:sldId id="266" r:id="rId28"/>
    <p:sldId id="267" r:id="rId29"/>
    <p:sldId id="268" r:id="rId30"/>
    <p:sldId id="283" r:id="rId31"/>
    <p:sldId id="269" r:id="rId32"/>
    <p:sldId id="270" r:id="rId33"/>
    <p:sldId id="284" r:id="rId34"/>
    <p:sldId id="271" r:id="rId35"/>
    <p:sldId id="272" r:id="rId36"/>
    <p:sldId id="285" r:id="rId37"/>
    <p:sldId id="273" r:id="rId38"/>
    <p:sldId id="264" r:id="rId39"/>
    <p:sldId id="274" r:id="rId40"/>
    <p:sldId id="286" r:id="rId41"/>
    <p:sldId id="265" r:id="rId42"/>
    <p:sldId id="275" r:id="rId43"/>
    <p:sldId id="287" r:id="rId4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799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02920" y="347472"/>
            <a:ext cx="11247120" cy="530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2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¿Una sola metodología para todos los proyectos?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30352" y="950976"/>
            <a:ext cx="11064240" cy="4754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268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No. La metodología depende de la pregunta, del producto esperado y de la evidencia disponible.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30352" y="6519672"/>
            <a:ext cx="1005840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268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TDTA III · Ingeniería en Automatización · UAQ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434840" y="2423160"/>
            <a:ext cx="3337560" cy="758952"/>
          </a:xfrm>
          <a:prstGeom prst="roundRect">
            <a:avLst>
              <a:gd name="adj" fmla="val 16867"/>
            </a:avLst>
          </a:prstGeom>
          <a:solidFill>
            <a:srgbClr val="FFFFFF"/>
          </a:solidFill>
          <a:ln w="12700">
            <a:solidFill>
              <a:srgbClr val="12354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4544568" y="2496312"/>
            <a:ext cx="3118104" cy="6126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0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PROYECTO TDTA III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1645920"/>
            <a:ext cx="3246120" cy="82296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12700">
            <a:solidFill>
              <a:srgbClr val="7463A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566928" y="1719072"/>
            <a:ext cx="3026664" cy="6766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0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Investigación / tesis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458200" y="1645920"/>
            <a:ext cx="3246120" cy="82296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12700">
            <a:solidFill>
              <a:srgbClr val="E59A4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8567928" y="1719072"/>
            <a:ext cx="3026664" cy="6766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0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Prototipo / desarrollo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457200" y="3977640"/>
            <a:ext cx="3246120" cy="82296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1270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566928" y="4050792"/>
            <a:ext cx="3026664" cy="6766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0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Automatización / integración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718040" y="3209544"/>
            <a:ext cx="1740159" cy="1133856"/>
          </a:xfrm>
          <a:prstGeom prst="line">
            <a:avLst/>
          </a:prstGeom>
          <a:noFill/>
          <a:ln w="25400">
            <a:solidFill>
              <a:srgbClr val="488C7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Shape 16"/>
          <p:cNvSpPr/>
          <p:nvPr/>
        </p:nvSpPr>
        <p:spPr>
          <a:xfrm>
            <a:off x="8458200" y="3977640"/>
            <a:ext cx="3246120" cy="82296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12700">
            <a:solidFill>
              <a:srgbClr val="488C7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8567928" y="4050792"/>
            <a:ext cx="3026664" cy="6766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0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Innovación aplicada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920240" y="5715000"/>
            <a:ext cx="850392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2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Elegir una ruta metodológica no significa adoptar todas sus técnicas.</a:t>
            </a:r>
            <a:endParaRPr lang="en-US" sz="1900" dirty="0"/>
          </a:p>
        </p:txBody>
      </p:sp>
      <p:cxnSp>
        <p:nvCxnSpPr>
          <p:cNvPr id="21" name="Connector 20"/>
          <p:cNvCxnSpPr>
            <a:cxnSpLocks/>
            <a:endCxn id="9" idx="3"/>
          </p:cNvCxnSpPr>
          <p:nvPr/>
        </p:nvCxnSpPr>
        <p:spPr>
          <a:xfrm flipH="1" flipV="1">
            <a:off x="3703320" y="2057400"/>
            <a:ext cx="971317" cy="365760"/>
          </a:xfrm>
          <a:prstGeom prst="line">
            <a:avLst/>
          </a:prstGeom>
          <a:ln w="25400">
            <a:solidFill>
              <a:srgbClr val="4972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>
            <a:cxnSpLocks/>
          </p:cNvCxnSpPr>
          <p:nvPr/>
        </p:nvCxnSpPr>
        <p:spPr>
          <a:xfrm flipV="1">
            <a:off x="6802016" y="2011680"/>
            <a:ext cx="1656184" cy="384048"/>
          </a:xfrm>
          <a:prstGeom prst="line">
            <a:avLst/>
          </a:prstGeom>
          <a:ln w="25400">
            <a:solidFill>
              <a:srgbClr val="4972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>
            <a:cxnSpLocks/>
            <a:endCxn id="15" idx="3"/>
          </p:cNvCxnSpPr>
          <p:nvPr/>
        </p:nvCxnSpPr>
        <p:spPr>
          <a:xfrm flipH="1">
            <a:off x="3703320" y="3182112"/>
            <a:ext cx="1288558" cy="1207008"/>
          </a:xfrm>
          <a:prstGeom prst="line">
            <a:avLst/>
          </a:prstGeom>
          <a:ln w="25400">
            <a:solidFill>
              <a:srgbClr val="4972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02920" y="347472"/>
            <a:ext cx="11247120" cy="530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2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Mapa de decisión: ¿qué se pretende lograr?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30352" y="950976"/>
            <a:ext cx="11064240" cy="4754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268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Preguntar por el resultado principal antes de seleccionar herramientas.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30352" y="6519672"/>
            <a:ext cx="1005840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268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TDTA III · Ingeniería en Automatización · UAQ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554480"/>
            <a:ext cx="3657600" cy="713232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12700">
            <a:solidFill>
              <a:srgbClr val="7463A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704088" y="1627632"/>
            <a:ext cx="3438144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0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Generar conocimiento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709160" y="1554480"/>
            <a:ext cx="3108960" cy="713232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12700">
            <a:solidFill>
              <a:srgbClr val="7463A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4818888" y="1627632"/>
            <a:ext cx="2889504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0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Investigación / tesis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046720" y="1609344"/>
            <a:ext cx="3566160" cy="685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0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Preguntas, variables, análisis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94360" y="2679192"/>
            <a:ext cx="3657600" cy="713232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12700">
            <a:solidFill>
              <a:srgbClr val="E59A4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704088" y="2752344"/>
            <a:ext cx="3438144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0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Construir y evaluar un artefacto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4709160" y="2679192"/>
            <a:ext cx="3108960" cy="713232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12700">
            <a:solidFill>
              <a:srgbClr val="E59A4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4818888" y="2752344"/>
            <a:ext cx="2889504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0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Desarrollo de prototipos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046720" y="2734056"/>
            <a:ext cx="3566160" cy="685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0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Especificaciones, diseño, pruebas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94360" y="3803904"/>
            <a:ext cx="3657600" cy="713232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1270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704088" y="3877056"/>
            <a:ext cx="3438144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0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Integrar componentes o controlar procesos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4709160" y="3803904"/>
            <a:ext cx="3108960" cy="713232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1270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4818888" y="3877056"/>
            <a:ext cx="2889504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0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Automatización / integración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046720" y="3858768"/>
            <a:ext cx="3566160" cy="685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0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Requisitos, arquitectura, validación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94360" y="4928616"/>
            <a:ext cx="3657600" cy="713232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12700">
            <a:solidFill>
              <a:srgbClr val="488C7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Text 23"/>
          <p:cNvSpPr/>
          <p:nvPr/>
        </p:nvSpPr>
        <p:spPr>
          <a:xfrm>
            <a:off x="704088" y="5001768"/>
            <a:ext cx="3438144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0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Resolver una necesidad de usuarios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4709160" y="4928616"/>
            <a:ext cx="3108960" cy="713232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12700">
            <a:solidFill>
              <a:srgbClr val="488C7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Text 26"/>
          <p:cNvSpPr/>
          <p:nvPr/>
        </p:nvSpPr>
        <p:spPr>
          <a:xfrm>
            <a:off x="4818888" y="5001768"/>
            <a:ext cx="2889504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0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Innovación aplicada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046720" y="4983480"/>
            <a:ext cx="3566160" cy="685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0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Diagnóstico, propuesta, impacto</a:t>
            </a:r>
            <a:endParaRPr lang="en-US" sz="1500" dirty="0"/>
          </a:p>
        </p:txBody>
      </p:sp>
      <p:cxnSp>
        <p:nvCxnSpPr>
          <p:cNvPr id="30" name="Connector 29"/>
          <p:cNvCxnSpPr/>
          <p:nvPr/>
        </p:nvCxnSpPr>
        <p:spPr>
          <a:xfrm>
            <a:off x="4251960" y="1911096"/>
            <a:ext cx="457200" cy="0"/>
          </a:xfrm>
          <a:prstGeom prst="line">
            <a:avLst/>
          </a:prstGeom>
          <a:ln w="25400">
            <a:solidFill>
              <a:srgbClr val="4972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251960" y="3035808"/>
            <a:ext cx="457200" cy="0"/>
          </a:xfrm>
          <a:prstGeom prst="line">
            <a:avLst/>
          </a:prstGeom>
          <a:ln w="25400">
            <a:solidFill>
              <a:srgbClr val="4972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251960" y="4160520"/>
            <a:ext cx="457200" cy="0"/>
          </a:xfrm>
          <a:prstGeom prst="line">
            <a:avLst/>
          </a:prstGeom>
          <a:ln w="25400">
            <a:solidFill>
              <a:srgbClr val="4972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251960" y="5285232"/>
            <a:ext cx="457200" cy="0"/>
          </a:xfrm>
          <a:prstGeom prst="line">
            <a:avLst/>
          </a:prstGeom>
          <a:ln w="25400">
            <a:solidFill>
              <a:srgbClr val="4972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C3048"/>
                </a:solidFill>
              </a:defRPr>
            </a:pPr>
            <a:r>
              <a:t>Fundamento: ¿qué es una metodología?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961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007584"/>
                </a:solidFill>
              </a:defRPr>
            </a:pPr>
            <a:r>
              <a:t>Distinguir enfoque, método, técnica e instrumento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3553968" cy="4160520"/>
          </a:xfrm>
          <a:prstGeom prst="roundRect">
            <a:avLst/>
          </a:prstGeom>
          <a:solidFill>
            <a:srgbClr val="EDF6F8"/>
          </a:solidFill>
          <a:ln>
            <a:solidFill>
              <a:srgbClr val="BC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94944" y="1856231"/>
            <a:ext cx="326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C3048"/>
                </a:solidFill>
              </a:defRPr>
            </a:pPr>
            <a:r>
              <a:t>Enfoque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2578608"/>
            <a:ext cx="3261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374650"/>
                </a:solidFill>
              </a:defRPr>
            </a:pPr>
            <a:r>
              <a:t>Orientación general para producir conocimiento o resolver un problema: cuantitativo, cualitativo, mixto o de diseño.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03775" y="1645920"/>
            <a:ext cx="3553968" cy="4160520"/>
          </a:xfrm>
          <a:prstGeom prst="roundRect">
            <a:avLst/>
          </a:prstGeom>
          <a:solidFill>
            <a:srgbClr val="EDF6F8"/>
          </a:solidFill>
          <a:ln>
            <a:solidFill>
              <a:srgbClr val="BC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50080" y="1856231"/>
            <a:ext cx="326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C3048"/>
                </a:solidFill>
              </a:defRPr>
            </a:pPr>
            <a:r>
              <a:t>Método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50080" y="2578608"/>
            <a:ext cx="3261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374650"/>
                </a:solidFill>
              </a:defRPr>
            </a:pPr>
            <a:r>
              <a:t>Secuencia lógica y justificable de actividades: diseño sistemático, modelo en V, estudio de caso, investigación-acción.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58911" y="1645920"/>
            <a:ext cx="3553968" cy="4160520"/>
          </a:xfrm>
          <a:prstGeom prst="roundRect">
            <a:avLst/>
          </a:prstGeom>
          <a:solidFill>
            <a:srgbClr val="EDF6F8"/>
          </a:solidFill>
          <a:ln>
            <a:solidFill>
              <a:srgbClr val="BC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05215" y="1856231"/>
            <a:ext cx="326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C3048"/>
                </a:solidFill>
              </a:defRPr>
            </a:pPr>
            <a:r>
              <a:t>Técnicas e instrumentos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05215" y="2578608"/>
            <a:ext cx="3261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374650"/>
                </a:solidFill>
              </a:defRPr>
            </a:pPr>
            <a:r>
              <a:t>Técnicas: experimentación, entrevista, simulación, revisión documental. Instrumentos: rúbrica, cuestionario, banco de pruebas.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080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74650"/>
                </a:solidFill>
              </a:defRPr>
            </a:pPr>
            <a:r>
              <a:t>Base: Creswell &amp; Creswell (2018); INCOSE (2023); ISO 21502 (2020).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C3048"/>
                </a:solidFill>
              </a:defRPr>
            </a:pPr>
            <a:r>
              <a:t>Investigación cuantitativa, cualitativa y mixta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961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007584"/>
                </a:solidFill>
              </a:defRPr>
            </a:pPr>
            <a:r>
              <a:t>El problema determina el tipo de evidencia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3553968" cy="4160520"/>
          </a:xfrm>
          <a:prstGeom prst="roundRect">
            <a:avLst/>
          </a:prstGeom>
          <a:solidFill>
            <a:srgbClr val="EDF6F8"/>
          </a:solidFill>
          <a:ln>
            <a:solidFill>
              <a:srgbClr val="BC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94944" y="1856231"/>
            <a:ext cx="326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C3048"/>
                </a:solidFill>
              </a:defRPr>
            </a:pPr>
            <a:r>
              <a:t>Cuantitativa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2578608"/>
            <a:ext cx="3261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374650"/>
                </a:solidFill>
              </a:defRPr>
            </a:pPr>
            <a:r>
              <a:t>Mide variables y contrasta relaciones o hipótesis mediante datos numéricos. Diseños experimentales u observacionales; control de sesgos y análisis estadístico.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03775" y="1645920"/>
            <a:ext cx="3553968" cy="4160520"/>
          </a:xfrm>
          <a:prstGeom prst="roundRect">
            <a:avLst/>
          </a:prstGeom>
          <a:solidFill>
            <a:srgbClr val="EDF6F8"/>
          </a:solidFill>
          <a:ln>
            <a:solidFill>
              <a:srgbClr val="BC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50080" y="1856231"/>
            <a:ext cx="326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C3048"/>
                </a:solidFill>
              </a:defRPr>
            </a:pPr>
            <a:r>
              <a:t>Cualitativa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50080" y="2578608"/>
            <a:ext cx="3261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374650"/>
                </a:solidFill>
              </a:defRPr>
            </a:pPr>
            <a:r>
              <a:t>Comprende prácticas, experiencias y procesos en su contexto. Entrevistas, observación y análisis temático; rigor mediante triangulación y trazabilidad.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58911" y="1645920"/>
            <a:ext cx="3553968" cy="4160520"/>
          </a:xfrm>
          <a:prstGeom prst="roundRect">
            <a:avLst/>
          </a:prstGeom>
          <a:solidFill>
            <a:srgbClr val="EDF6F8"/>
          </a:solidFill>
          <a:ln>
            <a:solidFill>
              <a:srgbClr val="BC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05215" y="1856231"/>
            <a:ext cx="326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C3048"/>
                </a:solidFill>
              </a:defRPr>
            </a:pPr>
            <a:r>
              <a:t>Mixta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05215" y="2578608"/>
            <a:ext cx="3261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374650"/>
                </a:solidFill>
              </a:defRPr>
            </a:pPr>
            <a:r>
              <a:t>Integra datos cuantitativos y cualitativos con una razón explícita: complementar, explicar o contrastar hallazgos.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080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74650"/>
                </a:solidFill>
              </a:defRPr>
            </a:pPr>
            <a:r>
              <a:t>Creswell &amp; Creswell (2018), Research Design, 5.ª 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C3048"/>
                </a:solidFill>
              </a:defRPr>
            </a:pPr>
            <a:r>
              <a:t>Diseño sistemático de ingeniería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961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007584"/>
                </a:solidFill>
              </a:defRPr>
            </a:pPr>
            <a:r>
              <a:t>De necesidades ambiguas a una solución técnicamente defendible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3553968" cy="4160520"/>
          </a:xfrm>
          <a:prstGeom prst="roundRect">
            <a:avLst/>
          </a:prstGeom>
          <a:solidFill>
            <a:srgbClr val="EDF6F8"/>
          </a:solidFill>
          <a:ln>
            <a:solidFill>
              <a:srgbClr val="BC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94944" y="1856231"/>
            <a:ext cx="326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C3048"/>
                </a:solidFill>
              </a:defRPr>
            </a:pPr>
            <a:r>
              <a:t>Fundamento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2578608"/>
            <a:ext cx="3261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374650"/>
                </a:solidFill>
              </a:defRPr>
            </a:pPr>
            <a:r>
              <a:t>La función y las necesidades se transforman en requisitos; se generan conceptos alternativos y se seleccionan con criterios explícitos.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03775" y="1645920"/>
            <a:ext cx="3553968" cy="4160520"/>
          </a:xfrm>
          <a:prstGeom prst="roundRect">
            <a:avLst/>
          </a:prstGeom>
          <a:solidFill>
            <a:srgbClr val="EDF6F8"/>
          </a:solidFill>
          <a:ln>
            <a:solidFill>
              <a:srgbClr val="BC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50080" y="1856231"/>
            <a:ext cx="326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C3048"/>
                </a:solidFill>
              </a:defRPr>
            </a:pPr>
            <a:r>
              <a:t>Ciclo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50080" y="2578608"/>
            <a:ext cx="3261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374650"/>
                </a:solidFill>
              </a:defRPr>
            </a:pPr>
            <a:r>
              <a:t>Necesidad → especificaciones → alternativas → selección → diseño conceptual → detalle → evaluación y rediseño.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58911" y="1645920"/>
            <a:ext cx="3553968" cy="4160520"/>
          </a:xfrm>
          <a:prstGeom prst="roundRect">
            <a:avLst/>
          </a:prstGeom>
          <a:solidFill>
            <a:srgbClr val="EDF6F8"/>
          </a:solidFill>
          <a:ln>
            <a:solidFill>
              <a:srgbClr val="BC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05215" y="1856231"/>
            <a:ext cx="326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C3048"/>
                </a:solidFill>
              </a:defRPr>
            </a:pPr>
            <a:r>
              <a:t>Evidencia TDTA III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05215" y="2578608"/>
            <a:ext cx="3261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374650"/>
                </a:solidFill>
              </a:defRPr>
            </a:pPr>
            <a:r>
              <a:t>Matriz de requisitos, criterios ponderados, arquitectura preliminar, decisiones justificadas y plan de pruebas; no se exige prototipo terminado.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080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74650"/>
                </a:solidFill>
              </a:defRPr>
            </a:pPr>
            <a:r>
              <a:t>Pahl et al. (2007), Engineering Design; Ulrich et al. (2020), Product Design and Development.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C3048"/>
                </a:solidFill>
              </a:defRPr>
            </a:pPr>
            <a:r>
              <a:t>Ingeniería de sistemas y modelo en 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961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007584"/>
                </a:solidFill>
              </a:defRPr>
            </a:pPr>
            <a:r>
              <a:t>Trazabilidad entre lo que se pide y lo que se comprueba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3553968" cy="4160520"/>
          </a:xfrm>
          <a:prstGeom prst="roundRect">
            <a:avLst/>
          </a:prstGeom>
          <a:solidFill>
            <a:srgbClr val="EDF6F8"/>
          </a:solidFill>
          <a:ln>
            <a:solidFill>
              <a:srgbClr val="BC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94944" y="1856231"/>
            <a:ext cx="326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C3048"/>
                </a:solidFill>
              </a:defRPr>
            </a:pPr>
            <a:r>
              <a:t>Ingeniería de sistemas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2578608"/>
            <a:ext cx="3261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374650"/>
                </a:solidFill>
              </a:defRPr>
            </a:pPr>
            <a:r>
              <a:t>Aborda interacciones entre subsistemas y ciclo de vida. Requisitos → arquitectura → interfaces → integración → verificación y validación.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76343" y="1623977"/>
            <a:ext cx="3553968" cy="4160520"/>
          </a:xfrm>
          <a:prstGeom prst="roundRect">
            <a:avLst/>
          </a:prstGeom>
          <a:solidFill>
            <a:srgbClr val="EDF6F8"/>
          </a:solidFill>
          <a:ln>
            <a:solidFill>
              <a:srgbClr val="BC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4450080" y="1856231"/>
            <a:ext cx="326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C3048"/>
                </a:solidFill>
              </a:defRPr>
            </a:pPr>
            <a:r>
              <a:t>Modelo en 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50080" y="2578608"/>
            <a:ext cx="326136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374650"/>
                </a:solidFill>
              </a:defRPr>
            </a:pPr>
            <a:r>
              <a:rPr lang="es-MX" dirty="0"/>
              <a:t>Metodología que organiza el desarrollo de un producto o sistema y comprueba que los que se construye cumple con lo que se necesita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8058911" y="1645920"/>
            <a:ext cx="3553968" cy="4160520"/>
          </a:xfrm>
          <a:prstGeom prst="roundRect">
            <a:avLst/>
          </a:prstGeom>
          <a:solidFill>
            <a:srgbClr val="EDF6F8"/>
          </a:solidFill>
          <a:ln>
            <a:solidFill>
              <a:srgbClr val="BC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05215" y="1856231"/>
            <a:ext cx="326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C3048"/>
                </a:solidFill>
              </a:defRPr>
            </a:pPr>
            <a:r>
              <a:t>Distinción crucial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05215" y="2578608"/>
            <a:ext cx="3261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374650"/>
                </a:solidFill>
              </a:defRPr>
            </a:pPr>
            <a:r>
              <a:t>Verificación: ¿cumple la especificación? Validación: ¿resuelve la necesidad de uso? El modelo en V no impide iteraciones.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080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74650"/>
                </a:solidFill>
              </a:defRPr>
            </a:pPr>
            <a:r>
              <a:t>INCOSE (2023), Systems Engineering Handbook, 5.ª ed.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DF96DD86-73C4-CA1F-72CD-EB11EC5451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45258" y="3902047"/>
            <a:ext cx="2136240" cy="195313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C3048"/>
                </a:solidFill>
              </a:defRPr>
            </a:pPr>
            <a:r>
              <a:t>Diseño experimental y modelos predictivos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961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007584"/>
                </a:solidFill>
              </a:defRPr>
            </a:pPr>
            <a:r>
              <a:t>La calidad del resultado depende del diseño de los datos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3553968" cy="4160520"/>
          </a:xfrm>
          <a:prstGeom prst="roundRect">
            <a:avLst/>
          </a:prstGeom>
          <a:solidFill>
            <a:srgbClr val="EDF6F8"/>
          </a:solidFill>
          <a:ln>
            <a:solidFill>
              <a:srgbClr val="BC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94944" y="1856231"/>
            <a:ext cx="326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C3048"/>
                </a:solidFill>
              </a:defRPr>
            </a:pPr>
            <a:r>
              <a:t>Diseño experimental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2578608"/>
            <a:ext cx="3261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374650"/>
                </a:solidFill>
              </a:defRPr>
            </a:pPr>
            <a:r>
              <a:t>Definir factores, variables de respuesta, controles, replicaciones, aleatorización y fuentes de variación.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03775" y="1645920"/>
            <a:ext cx="3553968" cy="4160520"/>
          </a:xfrm>
          <a:prstGeom prst="roundRect">
            <a:avLst/>
          </a:prstGeom>
          <a:solidFill>
            <a:srgbClr val="EDF6F8"/>
          </a:solidFill>
          <a:ln>
            <a:solidFill>
              <a:srgbClr val="BC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50080" y="1856231"/>
            <a:ext cx="326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C3048"/>
                </a:solidFill>
              </a:defRPr>
            </a:pPr>
            <a:r>
              <a:t>Modelos predictivos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50080" y="2578608"/>
            <a:ext cx="3261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374650"/>
                </a:solidFill>
              </a:defRPr>
            </a:pPr>
            <a:r>
              <a:t>Separar entrenamiento, ajuste y prueba; evitar fuga de información y evaluar generalización con datos independientes.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58911" y="1645920"/>
            <a:ext cx="3553968" cy="4160520"/>
          </a:xfrm>
          <a:prstGeom prst="roundRect">
            <a:avLst/>
          </a:prstGeom>
          <a:solidFill>
            <a:srgbClr val="EDF6F8"/>
          </a:solidFill>
          <a:ln>
            <a:solidFill>
              <a:srgbClr val="BC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05215" y="1856231"/>
            <a:ext cx="326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C3048"/>
                </a:solidFill>
              </a:defRPr>
            </a:pPr>
            <a:r>
              <a:t>Evidencia TDTA III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05215" y="2578608"/>
            <a:ext cx="3261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374650"/>
                </a:solidFill>
              </a:defRPr>
            </a:pPr>
            <a:r>
              <a:t>Protocolo de muestreo, referencia de calidad, métricas, criterios de aceptación y plan de análisis; resultados definitivos después.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080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74650"/>
                </a:solidFill>
              </a:defRPr>
            </a:pPr>
            <a:r>
              <a:t>Montgomery (2019), Design and Analysis of Experiments; James et al. (2023), ISLP.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C3048"/>
                </a:solidFill>
              </a:defRPr>
            </a:pPr>
            <a:r>
              <a:t>Investigación documental y estandarización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961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007584"/>
                </a:solidFill>
              </a:defRPr>
            </a:pPr>
            <a:r>
              <a:t>Un manual técnico es un producto de ingeniería documental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3553968" cy="4160520"/>
          </a:xfrm>
          <a:prstGeom prst="roundRect">
            <a:avLst/>
          </a:prstGeom>
          <a:solidFill>
            <a:srgbClr val="EDF6F8"/>
          </a:solidFill>
          <a:ln>
            <a:solidFill>
              <a:srgbClr val="BC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94944" y="1856231"/>
            <a:ext cx="326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C3048"/>
                </a:solidFill>
              </a:defRPr>
            </a:pPr>
            <a:r>
              <a:t>Investigación documental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2578608"/>
            <a:ext cx="3261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374650"/>
                </a:solidFill>
              </a:defRPr>
            </a:pPr>
            <a:r>
              <a:t>Búsqueda reproducible, selección de fuentes pertinentes, evaluación de autoridad y comparación de requisitos normativos.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03775" y="1645920"/>
            <a:ext cx="3553968" cy="4160520"/>
          </a:xfrm>
          <a:prstGeom prst="roundRect">
            <a:avLst/>
          </a:prstGeom>
          <a:solidFill>
            <a:srgbClr val="EDF6F8"/>
          </a:solidFill>
          <a:ln>
            <a:solidFill>
              <a:srgbClr val="BC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50080" y="1856231"/>
            <a:ext cx="326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C3048"/>
                </a:solidFill>
              </a:defRPr>
            </a:pPr>
            <a:r>
              <a:t>Gestión por procesos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50080" y="2578608"/>
            <a:ext cx="3261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374650"/>
                </a:solidFill>
              </a:defRPr>
            </a:pPr>
            <a:r>
              <a:t>Describir entradas, actividades, decisiones, responsables, salidas y controles; identificar peligros y puntos críticos.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58911" y="1645920"/>
            <a:ext cx="3553968" cy="4160520"/>
          </a:xfrm>
          <a:prstGeom prst="roundRect">
            <a:avLst/>
          </a:prstGeom>
          <a:solidFill>
            <a:srgbClr val="EDF6F8"/>
          </a:solidFill>
          <a:ln>
            <a:solidFill>
              <a:srgbClr val="BC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05215" y="1856231"/>
            <a:ext cx="326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C3048"/>
                </a:solidFill>
              </a:defRPr>
            </a:pPr>
            <a:r>
              <a:t>Validación documental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05215" y="2578608"/>
            <a:ext cx="3261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374650"/>
                </a:solidFill>
              </a:defRPr>
            </a:pPr>
            <a:r>
              <a:t>Revisión por especialistas, lista de cotejo de cobertura y seguridad, prueba de uso con escenarios y control de versiones.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080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74650"/>
                </a:solidFill>
              </a:defRPr>
            </a:pPr>
            <a:r>
              <a:t>ISO 9001:2015 (enfoque por procesos); ISO 12100:2010 (riesgos, cuando aplique).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C3048"/>
                </a:solidFill>
              </a:defRPr>
            </a:pPr>
            <a:r>
              <a:t>Investigación-acción y Design Thinking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961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007584"/>
                </a:solidFill>
              </a:defRPr>
            </a:pPr>
            <a:r>
              <a:t>Enfoques complementarios para problemas sociotécnicos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3553968" cy="4160520"/>
          </a:xfrm>
          <a:prstGeom prst="roundRect">
            <a:avLst/>
          </a:prstGeom>
          <a:solidFill>
            <a:srgbClr val="EDF6F8"/>
          </a:solidFill>
          <a:ln>
            <a:solidFill>
              <a:srgbClr val="BC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94944" y="1856231"/>
            <a:ext cx="326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C3048"/>
                </a:solidFill>
              </a:defRPr>
            </a:pPr>
            <a:r>
              <a:t>Investigación-acción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2578608"/>
            <a:ext cx="3261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374650"/>
                </a:solidFill>
              </a:defRPr>
            </a:pPr>
            <a:r>
              <a:t>Ciclos participativos: diagnosticar → planear → actuar → observar → reflexionar. Adecuada cuando se mejora una práctica con actores reales.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03775" y="1645920"/>
            <a:ext cx="3553968" cy="4160520"/>
          </a:xfrm>
          <a:prstGeom prst="roundRect">
            <a:avLst/>
          </a:prstGeom>
          <a:solidFill>
            <a:srgbClr val="EDF6F8"/>
          </a:solidFill>
          <a:ln>
            <a:solidFill>
              <a:srgbClr val="BC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50080" y="1856231"/>
            <a:ext cx="326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C3048"/>
                </a:solidFill>
              </a:defRPr>
            </a:pPr>
            <a:r>
              <a:t>Design Thinking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50080" y="2578608"/>
            <a:ext cx="3261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374650"/>
                </a:solidFill>
              </a:defRPr>
            </a:pPr>
            <a:r>
              <a:t>Empatizar → definir → idear → prototipar → probar; secuencia flexible y centrada en usuarios, no sustituto de validación técnica.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58911" y="1645920"/>
            <a:ext cx="3553968" cy="4160520"/>
          </a:xfrm>
          <a:prstGeom prst="roundRect">
            <a:avLst/>
          </a:prstGeom>
          <a:solidFill>
            <a:srgbClr val="EDF6F8"/>
          </a:solidFill>
          <a:ln>
            <a:solidFill>
              <a:srgbClr val="BC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05215" y="1856231"/>
            <a:ext cx="326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C3048"/>
                </a:solidFill>
              </a:defRPr>
            </a:pPr>
            <a:r>
              <a:t>Uso responsable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05215" y="2578608"/>
            <a:ext cx="3261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374650"/>
                </a:solidFill>
              </a:defRPr>
            </a:pPr>
            <a:r>
              <a:t>Explicar por qué se requieren participantes, cómo se recogerá evidencia y qué decisiones se tomarán con ella.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080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74650"/>
                </a:solidFill>
              </a:defRPr>
            </a:pPr>
            <a:r>
              <a:t>Kemmis, McTaggart &amp; Nixon (2014); Brown (2009).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86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3314F"/>
                </a:solidFill>
              </a:rPr>
              <a:t>Investigación cuantitativa: lógica y validez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1024128"/>
            <a:ext cx="11058144" cy="1136142"/>
          </a:xfrm>
          <a:prstGeom prst="roundRect">
            <a:avLst/>
          </a:prstGeom>
          <a:solidFill>
            <a:srgbClr val="E7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95528" y="1115568"/>
            <a:ext cx="10591800" cy="1026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D496D"/>
                </a:solidFill>
              </a:defRPr>
            </a:pPr>
            <a:r>
              <a:t>Fundamento</a:t>
            </a:r>
          </a:p>
          <a:p>
            <a:pPr>
              <a:spcBef>
                <a:spcPts val="300"/>
              </a:spcBef>
              <a:defRPr sz="1300">
                <a:solidFill>
                  <a:srgbClr val="23303E"/>
                </a:solidFill>
              </a:defRPr>
            </a:pPr>
            <a:r>
              <a:t>Busca caracterizar relaciones, diferencias o efectos mediante variables operacionalizadas y mediciones reproducibles.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2315718"/>
            <a:ext cx="11058144" cy="1136142"/>
          </a:xfrm>
          <a:prstGeom prst="roundRect">
            <a:avLst/>
          </a:prstGeom>
          <a:solidFill>
            <a:srgbClr val="E7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5528" y="2407158"/>
            <a:ext cx="10591800" cy="1026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D496D"/>
                </a:solidFill>
              </a:defRPr>
            </a:pPr>
            <a:r>
              <a:t>Diseño</a:t>
            </a:r>
          </a:p>
          <a:p>
            <a:pPr>
              <a:spcBef>
                <a:spcPts val="300"/>
              </a:spcBef>
              <a:defRPr sz="1300">
                <a:solidFill>
                  <a:srgbClr val="23303E"/>
                </a:solidFill>
              </a:defRPr>
            </a:pPr>
            <a:r>
              <a:t>Definir población/muestras, variables independientes y dependientes, controles, instrumentos, tamaño de muestra y plan de análisis.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607308"/>
            <a:ext cx="11058144" cy="1136142"/>
          </a:xfrm>
          <a:prstGeom prst="roundRect">
            <a:avLst/>
          </a:prstGeom>
          <a:solidFill>
            <a:srgbClr val="E7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8" y="3698748"/>
            <a:ext cx="10591800" cy="1026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D496D"/>
                </a:solidFill>
              </a:defRPr>
            </a:pPr>
            <a:r>
              <a:t>Calidad de evidencia</a:t>
            </a:r>
          </a:p>
          <a:p>
            <a:pPr>
              <a:spcBef>
                <a:spcPts val="300"/>
              </a:spcBef>
              <a:defRPr sz="1300">
                <a:solidFill>
                  <a:srgbClr val="23303E"/>
                </a:solidFill>
              </a:defRPr>
            </a:pPr>
            <a:r>
              <a:t>Validez de constructo, confiabilidad de medición, control de sesgos, incertidumbre y límites de generalización.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4898898"/>
            <a:ext cx="11058144" cy="1136142"/>
          </a:xfrm>
          <a:prstGeom prst="roundRect">
            <a:avLst/>
          </a:prstGeom>
          <a:solidFill>
            <a:srgbClr val="E7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8" y="4990338"/>
            <a:ext cx="10591800" cy="1026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D496D"/>
                </a:solidFill>
              </a:defRPr>
            </a:pPr>
            <a:r>
              <a:t>Aplicación</a:t>
            </a:r>
          </a:p>
          <a:p>
            <a:pPr>
              <a:spcBef>
                <a:spcPts val="300"/>
              </a:spcBef>
              <a:defRPr sz="1300">
                <a:solidFill>
                  <a:srgbClr val="23303E"/>
                </a:solidFill>
              </a:defRPr>
            </a:pPr>
            <a:r>
              <a:t>En E-Nose: comparar perfiles de señales con protocolos de muestreo y particiones de datos que eviten fuga de información.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291072"/>
            <a:ext cx="11003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05F6E"/>
                </a:solidFill>
              </a:defRPr>
            </a:pPr>
            <a:r>
              <a:t>Referencia orientativa: Creswell &amp; Creswell (2018); Montgomery (2019).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86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3314F"/>
                </a:solidFill>
              </a:rPr>
              <a:t>Investigación cualitativa y métodos mixtos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1024128"/>
            <a:ext cx="11058144" cy="1136142"/>
          </a:xfrm>
          <a:prstGeom prst="roundRect">
            <a:avLst/>
          </a:prstGeom>
          <a:solidFill>
            <a:srgbClr val="E7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95528" y="1115568"/>
            <a:ext cx="10591800" cy="1026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D496D"/>
                </a:solidFill>
              </a:defRPr>
            </a:pPr>
            <a:r>
              <a:t>Cualitativa</a:t>
            </a:r>
          </a:p>
          <a:p>
            <a:pPr>
              <a:spcBef>
                <a:spcPts val="300"/>
              </a:spcBef>
              <a:defRPr sz="1300">
                <a:solidFill>
                  <a:srgbClr val="23303E"/>
                </a:solidFill>
              </a:defRPr>
            </a:pPr>
            <a:r>
              <a:t>Estudia significados, prácticas, necesidades y contextos; emplea entrevistas, observación, análisis temático y triangulación.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2315718"/>
            <a:ext cx="11058144" cy="1136142"/>
          </a:xfrm>
          <a:prstGeom prst="roundRect">
            <a:avLst/>
          </a:prstGeom>
          <a:solidFill>
            <a:srgbClr val="E7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5528" y="2407158"/>
            <a:ext cx="10591800" cy="1026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D496D"/>
                </a:solidFill>
              </a:defRPr>
            </a:pPr>
            <a:r>
              <a:t>Rigor cualitativo</a:t>
            </a:r>
          </a:p>
          <a:p>
            <a:pPr>
              <a:spcBef>
                <a:spcPts val="300"/>
              </a:spcBef>
              <a:defRPr sz="1300">
                <a:solidFill>
                  <a:srgbClr val="23303E"/>
                </a:solidFill>
              </a:defRPr>
            </a:pPr>
            <a:r>
              <a:t>Explicitar selección de participantes, registro, codificación, reflexividad, saturación pertinente y trazabilidad de interpretaciones.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607308"/>
            <a:ext cx="11058144" cy="1136142"/>
          </a:xfrm>
          <a:prstGeom prst="roundRect">
            <a:avLst/>
          </a:prstGeom>
          <a:solidFill>
            <a:srgbClr val="E7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8" y="3698748"/>
            <a:ext cx="10591800" cy="1026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D496D"/>
                </a:solidFill>
              </a:defRPr>
            </a:pPr>
            <a:r>
              <a:t>Mixta</a:t>
            </a:r>
          </a:p>
          <a:p>
            <a:pPr>
              <a:spcBef>
                <a:spcPts val="300"/>
              </a:spcBef>
              <a:defRPr sz="1300">
                <a:solidFill>
                  <a:srgbClr val="23303E"/>
                </a:solidFill>
              </a:defRPr>
            </a:pPr>
            <a:r>
              <a:t>Integra evidencia cuantitativa y cualitativa cuando ninguna por sí sola responde suficientemente el problema.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4898898"/>
            <a:ext cx="11058144" cy="1136142"/>
          </a:xfrm>
          <a:prstGeom prst="roundRect">
            <a:avLst/>
          </a:prstGeom>
          <a:solidFill>
            <a:srgbClr val="E7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8" y="4990338"/>
            <a:ext cx="10591800" cy="1026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D496D"/>
                </a:solidFill>
              </a:defRPr>
            </a:pPr>
            <a:r>
              <a:t>Diseños mixtos</a:t>
            </a:r>
          </a:p>
          <a:p>
            <a:pPr>
              <a:spcBef>
                <a:spcPts val="300"/>
              </a:spcBef>
              <a:defRPr sz="1300">
                <a:solidFill>
                  <a:srgbClr val="23303E"/>
                </a:solidFill>
              </a:defRPr>
            </a:pPr>
            <a:r>
              <a:t>Convergente: analizar en paralelo y contrastar. Secuencial: una fase informa a la siguiente. Integración explícita de resultados.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291072"/>
            <a:ext cx="11003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05F6E"/>
                </a:solidFill>
              </a:defRPr>
            </a:pPr>
            <a:r>
              <a:t>Aplicación: entrevistas a instaladores y revisión de fallas pueden complementar indicadores técnicos del manual.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86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3314F"/>
                </a:solidFill>
              </a:rPr>
              <a:t>Diseño sistemático de ingeniería: fundamentos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1024128"/>
            <a:ext cx="11058144" cy="1136142"/>
          </a:xfrm>
          <a:prstGeom prst="roundRect">
            <a:avLst/>
          </a:prstGeom>
          <a:solidFill>
            <a:srgbClr val="E7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95528" y="1115568"/>
            <a:ext cx="10591800" cy="1026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D496D"/>
                </a:solidFill>
              </a:defRPr>
            </a:pPr>
            <a:r>
              <a:t>Principio</a:t>
            </a:r>
          </a:p>
          <a:p>
            <a:pPr>
              <a:spcBef>
                <a:spcPts val="300"/>
              </a:spcBef>
              <a:defRPr sz="1300">
                <a:solidFill>
                  <a:srgbClr val="23303E"/>
                </a:solidFill>
              </a:defRPr>
            </a:pPr>
            <a:r>
              <a:t>Transformar una necesidad en funciones, requisitos medibles y alternativas de solución antes de comprometerse con una arquitectura.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2315718"/>
            <a:ext cx="11058144" cy="1136142"/>
          </a:xfrm>
          <a:prstGeom prst="roundRect">
            <a:avLst/>
          </a:prstGeom>
          <a:solidFill>
            <a:srgbClr val="E7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5528" y="2407158"/>
            <a:ext cx="10591800" cy="1026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D496D"/>
                </a:solidFill>
              </a:defRPr>
            </a:pPr>
            <a:r>
              <a:t>Secuencia</a:t>
            </a:r>
          </a:p>
          <a:p>
            <a:pPr>
              <a:spcBef>
                <a:spcPts val="300"/>
              </a:spcBef>
              <a:defRPr sz="1300">
                <a:solidFill>
                  <a:srgbClr val="23303E"/>
                </a:solidFill>
              </a:defRPr>
            </a:pPr>
            <a:r>
              <a:t>Aclarar problema → estructura funcional → principios de solución → evaluación multicriterio → diseño conceptual → detalle.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607308"/>
            <a:ext cx="11058144" cy="1136142"/>
          </a:xfrm>
          <a:prstGeom prst="roundRect">
            <a:avLst/>
          </a:prstGeom>
          <a:solidFill>
            <a:srgbClr val="E7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8" y="3698748"/>
            <a:ext cx="10591800" cy="1026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D496D"/>
                </a:solidFill>
              </a:defRPr>
            </a:pPr>
            <a:r>
              <a:t>Criterios</a:t>
            </a:r>
          </a:p>
          <a:p>
            <a:pPr>
              <a:spcBef>
                <a:spcPts val="300"/>
              </a:spcBef>
              <a:defRPr sz="1300">
                <a:solidFill>
                  <a:srgbClr val="23303E"/>
                </a:solidFill>
              </a:defRPr>
            </a:pPr>
            <a:r>
              <a:t>Funcionalidad, seguridad, costo, mantenibilidad, fabricación, recursos y riesgos; justificar ponderaciones y supuestos.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4898898"/>
            <a:ext cx="11058144" cy="1136142"/>
          </a:xfrm>
          <a:prstGeom prst="roundRect">
            <a:avLst/>
          </a:prstGeom>
          <a:solidFill>
            <a:srgbClr val="E7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8" y="4990338"/>
            <a:ext cx="10591800" cy="1026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D496D"/>
                </a:solidFill>
              </a:defRPr>
            </a:pPr>
            <a:r>
              <a:t>Iteración</a:t>
            </a:r>
          </a:p>
          <a:p>
            <a:pPr>
              <a:spcBef>
                <a:spcPts val="300"/>
              </a:spcBef>
              <a:defRPr sz="1300">
                <a:solidFill>
                  <a:srgbClr val="23303E"/>
                </a:solidFill>
              </a:defRPr>
            </a:pPr>
            <a:r>
              <a:t>La secuencia no es rígida: las pruebas y restricciones obligan a revisar decisiones y registrar cambios.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291072"/>
            <a:ext cx="11003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05F6E"/>
                </a:solidFill>
              </a:defRPr>
            </a:pPr>
            <a:r>
              <a:t>Referencias: Pahl et al. (2007); Ulrich, Eppinger &amp; Yang (2020).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86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3314F"/>
                </a:solidFill>
              </a:rPr>
              <a:t>Ingeniería de sistemas: requisitos y trazabilidad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1024128"/>
            <a:ext cx="11058144" cy="1136142"/>
          </a:xfrm>
          <a:prstGeom prst="roundRect">
            <a:avLst/>
          </a:prstGeom>
          <a:solidFill>
            <a:srgbClr val="E7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95528" y="1115568"/>
            <a:ext cx="10591800" cy="1026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D496D"/>
                </a:solidFill>
              </a:defRPr>
            </a:pPr>
            <a:r>
              <a:t>Sistema sociotécnico</a:t>
            </a:r>
          </a:p>
          <a:p>
            <a:pPr>
              <a:spcBef>
                <a:spcPts val="300"/>
              </a:spcBef>
              <a:defRPr sz="1300">
                <a:solidFill>
                  <a:srgbClr val="23303E"/>
                </a:solidFill>
              </a:defRPr>
            </a:pPr>
            <a:r>
              <a:t>Conjunto de elementos, interfaces, actores, restricciones y entorno que deben funcionar como un todo.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2315718"/>
            <a:ext cx="11058144" cy="1136142"/>
          </a:xfrm>
          <a:prstGeom prst="roundRect">
            <a:avLst/>
          </a:prstGeom>
          <a:solidFill>
            <a:srgbClr val="E7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5528" y="2407158"/>
            <a:ext cx="10591800" cy="1026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D496D"/>
                </a:solidFill>
              </a:defRPr>
            </a:pPr>
            <a:r>
              <a:t>Proceso</a:t>
            </a:r>
          </a:p>
          <a:p>
            <a:pPr>
              <a:spcBef>
                <a:spcPts val="300"/>
              </a:spcBef>
              <a:defRPr sz="1300">
                <a:solidFill>
                  <a:srgbClr val="23303E"/>
                </a:solidFill>
              </a:defRPr>
            </a:pPr>
            <a:r>
              <a:t>Necesidades de interesados → requisitos verificables → arquitectura → asignación a subsistemas → integración → evaluación.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607308"/>
            <a:ext cx="11058144" cy="1136142"/>
          </a:xfrm>
          <a:prstGeom prst="roundRect">
            <a:avLst/>
          </a:prstGeom>
          <a:solidFill>
            <a:srgbClr val="E7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8" y="3698748"/>
            <a:ext cx="10591800" cy="1026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D496D"/>
                </a:solidFill>
              </a:defRPr>
            </a:pPr>
            <a:r>
              <a:t>Trazabilidad bidireccional</a:t>
            </a:r>
          </a:p>
          <a:p>
            <a:pPr>
              <a:spcBef>
                <a:spcPts val="300"/>
              </a:spcBef>
              <a:defRPr sz="1300">
                <a:solidFill>
                  <a:srgbClr val="23303E"/>
                </a:solidFill>
              </a:defRPr>
            </a:pPr>
            <a:r>
              <a:t>Cada requisito debe vincularse con una decisión de diseño y con una evidencia de comprobación; evitar requisitos huérfanos.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4898898"/>
            <a:ext cx="11058144" cy="1136142"/>
          </a:xfrm>
          <a:prstGeom prst="roundRect">
            <a:avLst/>
          </a:prstGeom>
          <a:solidFill>
            <a:srgbClr val="E7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8" y="4990338"/>
            <a:ext cx="10591800" cy="1026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D496D"/>
                </a:solidFill>
              </a:defRPr>
            </a:pPr>
            <a:r>
              <a:t>Gestión técnica</a:t>
            </a:r>
          </a:p>
          <a:p>
            <a:pPr>
              <a:spcBef>
                <a:spcPts val="300"/>
              </a:spcBef>
              <a:defRPr sz="1300">
                <a:solidFill>
                  <a:srgbClr val="23303E"/>
                </a:solidFill>
              </a:defRPr>
            </a:pPr>
            <a:r>
              <a:t>Control de interfaces, configuración, cambios, riesgos y revisiones a lo largo del ciclo de vida.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291072"/>
            <a:ext cx="11003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05F6E"/>
                </a:solidFill>
              </a:defRPr>
            </a:pPr>
            <a:r>
              <a:t>Referencia: INCOSE Systems Engineering Handbook, 5.ª ed. (2023).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86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3314F"/>
                </a:solidFill>
              </a:rPr>
              <a:t>Modelo en V: verificación frente a validación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1024128"/>
            <a:ext cx="11058144" cy="1136142"/>
          </a:xfrm>
          <a:prstGeom prst="roundRect">
            <a:avLst/>
          </a:prstGeom>
          <a:solidFill>
            <a:srgbClr val="E7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95528" y="1115568"/>
            <a:ext cx="10591800" cy="1026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D496D"/>
                </a:solidFill>
              </a:defRPr>
            </a:pPr>
            <a:r>
              <a:t>Rama izquierda</a:t>
            </a:r>
          </a:p>
          <a:p>
            <a:pPr>
              <a:spcBef>
                <a:spcPts val="300"/>
              </a:spcBef>
              <a:defRPr sz="1300">
                <a:solidFill>
                  <a:srgbClr val="23303E"/>
                </a:solidFill>
              </a:defRPr>
            </a:pPr>
            <a:r>
              <a:t>Descomposición progresiva: necesidades, requisitos de sistema, subsistemas, diseño detallado.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2315718"/>
            <a:ext cx="11058144" cy="1136142"/>
          </a:xfrm>
          <a:prstGeom prst="roundRect">
            <a:avLst/>
          </a:prstGeom>
          <a:solidFill>
            <a:srgbClr val="E7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5528" y="2407158"/>
            <a:ext cx="10591800" cy="1026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D496D"/>
                </a:solidFill>
              </a:defRPr>
            </a:pPr>
            <a:r>
              <a:t>Base</a:t>
            </a:r>
          </a:p>
          <a:p>
            <a:pPr>
              <a:spcBef>
                <a:spcPts val="300"/>
              </a:spcBef>
              <a:defRPr sz="1300">
                <a:solidFill>
                  <a:srgbClr val="23303E"/>
                </a:solidFill>
              </a:defRPr>
            </a:pPr>
            <a:r>
              <a:t>Construcción, programación o integración incremental con comprobaciones locales.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607308"/>
            <a:ext cx="11058144" cy="1136142"/>
          </a:xfrm>
          <a:prstGeom prst="roundRect">
            <a:avLst/>
          </a:prstGeom>
          <a:solidFill>
            <a:srgbClr val="E7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8" y="3698748"/>
            <a:ext cx="10591800" cy="1026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D496D"/>
                </a:solidFill>
              </a:defRPr>
            </a:pPr>
            <a:r>
              <a:t>Rama derecha</a:t>
            </a:r>
          </a:p>
          <a:p>
            <a:pPr>
              <a:spcBef>
                <a:spcPts val="300"/>
              </a:spcBef>
              <a:defRPr sz="1300">
                <a:solidFill>
                  <a:srgbClr val="23303E"/>
                </a:solidFill>
              </a:defRPr>
            </a:pPr>
            <a:r>
              <a:t>Pruebas de unidades, integración, sistema y aceptación relacionadas con los niveles de requisitos.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4898898"/>
            <a:ext cx="11058144" cy="1136142"/>
          </a:xfrm>
          <a:prstGeom prst="roundRect">
            <a:avLst/>
          </a:prstGeom>
          <a:solidFill>
            <a:srgbClr val="E7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8" y="4990338"/>
            <a:ext cx="10591800" cy="1026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D496D"/>
                </a:solidFill>
              </a:defRPr>
            </a:pPr>
            <a:r>
              <a:t>Distinción clave</a:t>
            </a:r>
          </a:p>
          <a:p>
            <a:pPr>
              <a:spcBef>
                <a:spcPts val="300"/>
              </a:spcBef>
              <a:defRPr sz="1300">
                <a:solidFill>
                  <a:srgbClr val="23303E"/>
                </a:solidFill>
              </a:defRPr>
            </a:pPr>
            <a:r>
              <a:t>Verificar: ¿se construyó conforme a especificación? Validar: ¿resuelve la necesidad en el contexto previsto?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291072"/>
            <a:ext cx="11003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05F6E"/>
                </a:solidFill>
              </a:defRPr>
            </a:pPr>
            <a:r>
              <a:t>Robot Delta: simular HDL verifica módulos; demostrar precisión en una tarea valida el sistema.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86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3314F"/>
                </a:solidFill>
              </a:rPr>
              <a:t>Diseño experimental: causalidad y reproducibilidad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1024128"/>
            <a:ext cx="11058144" cy="1136142"/>
          </a:xfrm>
          <a:prstGeom prst="roundRect">
            <a:avLst/>
          </a:prstGeom>
          <a:solidFill>
            <a:srgbClr val="E7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95528" y="1115568"/>
            <a:ext cx="10591800" cy="1026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D496D"/>
                </a:solidFill>
              </a:defRPr>
            </a:pPr>
            <a:r>
              <a:t>Pregunta e hipótesis</a:t>
            </a:r>
          </a:p>
          <a:p>
            <a:pPr>
              <a:spcBef>
                <a:spcPts val="300"/>
              </a:spcBef>
              <a:defRPr sz="1300">
                <a:solidFill>
                  <a:srgbClr val="23303E"/>
                </a:solidFill>
              </a:defRPr>
            </a:pPr>
            <a:r>
              <a:t>Precisar qué efecto o diferencia se evaluará y cómo se medirá.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2315718"/>
            <a:ext cx="11058144" cy="1136142"/>
          </a:xfrm>
          <a:prstGeom prst="roundRect">
            <a:avLst/>
          </a:prstGeom>
          <a:solidFill>
            <a:srgbClr val="E7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5528" y="2407158"/>
            <a:ext cx="10591800" cy="1026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D496D"/>
                </a:solidFill>
              </a:defRPr>
            </a:pPr>
            <a:r>
              <a:t>Factores y respuesta</a:t>
            </a:r>
          </a:p>
          <a:p>
            <a:pPr>
              <a:spcBef>
                <a:spcPts val="300"/>
              </a:spcBef>
              <a:defRPr sz="1300">
                <a:solidFill>
                  <a:srgbClr val="23303E"/>
                </a:solidFill>
              </a:defRPr>
            </a:pPr>
            <a:r>
              <a:t>Definir factores controlables, niveles, variables de respuesta, condiciones de operación y factores de confusión.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607308"/>
            <a:ext cx="11058144" cy="1136142"/>
          </a:xfrm>
          <a:prstGeom prst="roundRect">
            <a:avLst/>
          </a:prstGeom>
          <a:solidFill>
            <a:srgbClr val="E7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8" y="3698748"/>
            <a:ext cx="10591800" cy="1026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D496D"/>
                </a:solidFill>
              </a:defRPr>
            </a:pPr>
            <a:r>
              <a:t>Principios</a:t>
            </a:r>
          </a:p>
          <a:p>
            <a:pPr>
              <a:spcBef>
                <a:spcPts val="300"/>
              </a:spcBef>
              <a:defRPr sz="1300">
                <a:solidFill>
                  <a:srgbClr val="23303E"/>
                </a:solidFill>
              </a:defRPr>
            </a:pPr>
            <a:r>
              <a:t>Aleatorización, repetición y bloqueo cuando correspondan; calibración y registro de condiciones.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4898898"/>
            <a:ext cx="11058144" cy="1136142"/>
          </a:xfrm>
          <a:prstGeom prst="roundRect">
            <a:avLst/>
          </a:prstGeom>
          <a:solidFill>
            <a:srgbClr val="E7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8" y="4990338"/>
            <a:ext cx="10591800" cy="1026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D496D"/>
                </a:solidFill>
              </a:defRPr>
            </a:pPr>
            <a:r>
              <a:t>Análisis</a:t>
            </a:r>
          </a:p>
          <a:p>
            <a:pPr>
              <a:spcBef>
                <a:spcPts val="300"/>
              </a:spcBef>
              <a:defRPr sz="1300">
                <a:solidFill>
                  <a:srgbClr val="23303E"/>
                </a:solidFill>
              </a:defRPr>
            </a:pPr>
            <a:r>
              <a:t>Estimar efectos, variabilidad, intervalos e incertidumbre; interpretar resultados dentro de los límites del diseño.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291072"/>
            <a:ext cx="11003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05F6E"/>
                </a:solidFill>
              </a:defRPr>
            </a:pPr>
            <a:r>
              <a:t>Referencia: Montgomery, Design and Analysis of Experiments (2019).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86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3314F"/>
                </a:solidFill>
              </a:rPr>
              <a:t>Investigación documental aplicada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1024128"/>
            <a:ext cx="11058144" cy="1136142"/>
          </a:xfrm>
          <a:prstGeom prst="roundRect">
            <a:avLst/>
          </a:prstGeom>
          <a:solidFill>
            <a:srgbClr val="E7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95528" y="1115568"/>
            <a:ext cx="10591800" cy="1026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D496D"/>
                </a:solidFill>
              </a:defRPr>
            </a:pPr>
            <a:r>
              <a:t>Objeto</a:t>
            </a:r>
          </a:p>
          <a:p>
            <a:pPr>
              <a:spcBef>
                <a:spcPts val="300"/>
              </a:spcBef>
              <a:defRPr sz="1300">
                <a:solidFill>
                  <a:srgbClr val="23303E"/>
                </a:solidFill>
              </a:defRPr>
            </a:pPr>
            <a:r>
              <a:t>Construir conocimiento operativo a partir de normas, manuales, literatura y evidencias de campo, no solo resumir documentos.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2315718"/>
            <a:ext cx="11058144" cy="1136142"/>
          </a:xfrm>
          <a:prstGeom prst="roundRect">
            <a:avLst/>
          </a:prstGeom>
          <a:solidFill>
            <a:srgbClr val="E7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5528" y="2407158"/>
            <a:ext cx="10591800" cy="1026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D496D"/>
                </a:solidFill>
              </a:defRPr>
            </a:pPr>
            <a:r>
              <a:t>Selección</a:t>
            </a:r>
          </a:p>
          <a:p>
            <a:pPr>
              <a:spcBef>
                <a:spcPts val="300"/>
              </a:spcBef>
              <a:defRPr sz="1300">
                <a:solidFill>
                  <a:srgbClr val="23303E"/>
                </a:solidFill>
              </a:defRPr>
            </a:pPr>
            <a:r>
              <a:t>Definir alcance, criterios de inclusión, autoridad, vigencia, jurisdicción y jerarquía de fuentes.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607308"/>
            <a:ext cx="11058144" cy="1136142"/>
          </a:xfrm>
          <a:prstGeom prst="roundRect">
            <a:avLst/>
          </a:prstGeom>
          <a:solidFill>
            <a:srgbClr val="E7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8" y="3698748"/>
            <a:ext cx="10591800" cy="1026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D496D"/>
                </a:solidFill>
              </a:defRPr>
            </a:pPr>
            <a:r>
              <a:t>Extracción</a:t>
            </a:r>
          </a:p>
          <a:p>
            <a:pPr>
              <a:spcBef>
                <a:spcPts val="300"/>
              </a:spcBef>
              <a:defRPr sz="1300">
                <a:solidFill>
                  <a:srgbClr val="23303E"/>
                </a:solidFill>
              </a:defRPr>
            </a:pPr>
            <a:r>
              <a:t>Usar matriz: requisito o práctica, fuente, justificación, riesgo, etapa, responsable y evidencia de cumplimiento.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4898898"/>
            <a:ext cx="11058144" cy="1136142"/>
          </a:xfrm>
          <a:prstGeom prst="roundRect">
            <a:avLst/>
          </a:prstGeom>
          <a:solidFill>
            <a:srgbClr val="E7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8" y="4990338"/>
            <a:ext cx="10591800" cy="1026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D496D"/>
                </a:solidFill>
              </a:defRPr>
            </a:pPr>
            <a:r>
              <a:t>Síntesis crítica</a:t>
            </a:r>
          </a:p>
          <a:p>
            <a:pPr>
              <a:spcBef>
                <a:spcPts val="300"/>
              </a:spcBef>
              <a:defRPr sz="1300">
                <a:solidFill>
                  <a:srgbClr val="23303E"/>
                </a:solidFill>
              </a:defRPr>
            </a:pPr>
            <a:r>
              <a:t>Resolver contradicciones explícitamente; registrar decisiones, incertidumbres y asuntos sujetos a revisión técnica.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291072"/>
            <a:ext cx="11003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05F6E"/>
                </a:solidFill>
              </a:defRPr>
            </a:pPr>
            <a:r>
              <a:t>Manual fotovoltaico: distinguir requisitos normativos de recomendaciones de buena práctica.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86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3314F"/>
                </a:solidFill>
              </a:rPr>
              <a:t>Gestión por procesos y estandarización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1024128"/>
            <a:ext cx="11058144" cy="1136142"/>
          </a:xfrm>
          <a:prstGeom prst="roundRect">
            <a:avLst/>
          </a:prstGeom>
          <a:solidFill>
            <a:srgbClr val="E7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95528" y="1115568"/>
            <a:ext cx="10591800" cy="1026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D496D"/>
                </a:solidFill>
              </a:defRPr>
            </a:pPr>
            <a:r>
              <a:t>Enfoque de procesos</a:t>
            </a:r>
          </a:p>
          <a:p>
            <a:pPr>
              <a:spcBef>
                <a:spcPts val="300"/>
              </a:spcBef>
              <a:defRPr sz="1300">
                <a:solidFill>
                  <a:srgbClr val="23303E"/>
                </a:solidFill>
              </a:defRPr>
            </a:pPr>
            <a:r>
              <a:t>Definir entradas, actividades, responsables, salidas, controles y criterios de aceptación.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2315718"/>
            <a:ext cx="11058144" cy="1136142"/>
          </a:xfrm>
          <a:prstGeom prst="roundRect">
            <a:avLst/>
          </a:prstGeom>
          <a:solidFill>
            <a:srgbClr val="E7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5528" y="2407158"/>
            <a:ext cx="10591800" cy="1026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D496D"/>
                </a:solidFill>
              </a:defRPr>
            </a:pPr>
            <a:r>
              <a:t>Representación</a:t>
            </a:r>
          </a:p>
          <a:p>
            <a:pPr>
              <a:spcBef>
                <a:spcPts val="300"/>
              </a:spcBef>
              <a:defRPr sz="1300">
                <a:solidFill>
                  <a:srgbClr val="23303E"/>
                </a:solidFill>
              </a:defRPr>
            </a:pPr>
            <a:r>
              <a:t>Diagramas de flujo, SIPOC, procedimientos operativos, registros, listas de verificación y control documental.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607308"/>
            <a:ext cx="11058144" cy="1136142"/>
          </a:xfrm>
          <a:prstGeom prst="roundRect">
            <a:avLst/>
          </a:prstGeom>
          <a:solidFill>
            <a:srgbClr val="E7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8" y="3698748"/>
            <a:ext cx="10591800" cy="1026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D496D"/>
                </a:solidFill>
              </a:defRPr>
            </a:pPr>
            <a:r>
              <a:t>Normalización</a:t>
            </a:r>
          </a:p>
          <a:p>
            <a:pPr>
              <a:spcBef>
                <a:spcPts val="300"/>
              </a:spcBef>
              <a:defRPr sz="1300">
                <a:solidFill>
                  <a:srgbClr val="23303E"/>
                </a:solidFill>
              </a:defRPr>
            </a:pPr>
            <a:r>
              <a:t>Estandarizar lo repetible sin ignorar condiciones locales, seguridad eléctrica ni competencia del instalador.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4898898"/>
            <a:ext cx="11058144" cy="1136142"/>
          </a:xfrm>
          <a:prstGeom prst="roundRect">
            <a:avLst/>
          </a:prstGeom>
          <a:solidFill>
            <a:srgbClr val="E7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8" y="4990338"/>
            <a:ext cx="10591800" cy="1026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D496D"/>
                </a:solidFill>
              </a:defRPr>
            </a:pPr>
            <a:r>
              <a:t>Mejora continua</a:t>
            </a:r>
          </a:p>
          <a:p>
            <a:pPr>
              <a:spcBef>
                <a:spcPts val="300"/>
              </a:spcBef>
              <a:defRPr sz="1300">
                <a:solidFill>
                  <a:srgbClr val="23303E"/>
                </a:solidFill>
              </a:defRPr>
            </a:pPr>
            <a:r>
              <a:t>Versionar el manual, registrar no conformidades y revisar su eficacia con retroalimentación de usuarios.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291072"/>
            <a:ext cx="11003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05F6E"/>
                </a:solidFill>
              </a:defRPr>
            </a:pPr>
            <a:r>
              <a:t>Referencia: ISO 9001:2015, enfoque a procesos; ISO 21502:2020, gestión del proyecto.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86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3314F"/>
                </a:solidFill>
              </a:rPr>
              <a:t>Validación de manuales y procedimientos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1024128"/>
            <a:ext cx="11058144" cy="1136142"/>
          </a:xfrm>
          <a:prstGeom prst="roundRect">
            <a:avLst/>
          </a:prstGeom>
          <a:solidFill>
            <a:srgbClr val="E7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95528" y="1115568"/>
            <a:ext cx="10591800" cy="1026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D496D"/>
                </a:solidFill>
              </a:defRPr>
            </a:pPr>
            <a:r>
              <a:t>Validez de contenido</a:t>
            </a:r>
          </a:p>
          <a:p>
            <a:pPr>
              <a:spcBef>
                <a:spcPts val="300"/>
              </a:spcBef>
              <a:defRPr sz="1300">
                <a:solidFill>
                  <a:srgbClr val="23303E"/>
                </a:solidFill>
              </a:defRPr>
            </a:pPr>
            <a:r>
              <a:t>Expertos comprueban integridad, exactitud, consistencia con normas y cobertura de riesgos.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2315718"/>
            <a:ext cx="11058144" cy="1136142"/>
          </a:xfrm>
          <a:prstGeom prst="roundRect">
            <a:avLst/>
          </a:prstGeom>
          <a:solidFill>
            <a:srgbClr val="E7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5528" y="2407158"/>
            <a:ext cx="10591800" cy="1026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D496D"/>
                </a:solidFill>
              </a:defRPr>
            </a:pPr>
            <a:r>
              <a:t>Usabilidad</a:t>
            </a:r>
          </a:p>
          <a:p>
            <a:pPr>
              <a:spcBef>
                <a:spcPts val="300"/>
              </a:spcBef>
              <a:defRPr sz="1300">
                <a:solidFill>
                  <a:srgbClr val="23303E"/>
                </a:solidFill>
              </a:defRPr>
            </a:pPr>
            <a:r>
              <a:t>Usuarios previstos prueban comprensión, secuencia, claridad, formatos y localización de información.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607308"/>
            <a:ext cx="11058144" cy="1136142"/>
          </a:xfrm>
          <a:prstGeom prst="roundRect">
            <a:avLst/>
          </a:prstGeom>
          <a:solidFill>
            <a:srgbClr val="E7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8" y="3698748"/>
            <a:ext cx="10591800" cy="1026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D496D"/>
                </a:solidFill>
              </a:defRPr>
            </a:pPr>
            <a:r>
              <a:t>Piloto</a:t>
            </a:r>
          </a:p>
          <a:p>
            <a:pPr>
              <a:spcBef>
                <a:spcPts val="300"/>
              </a:spcBef>
              <a:defRPr sz="1300">
                <a:solidFill>
                  <a:srgbClr val="23303E"/>
                </a:solidFill>
              </a:defRPr>
            </a:pPr>
            <a:r>
              <a:t>Simular o acompañar una aplicación controlada; documentar dudas, omisiones, errores y tiempos.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4898898"/>
            <a:ext cx="11058144" cy="1136142"/>
          </a:xfrm>
          <a:prstGeom prst="roundRect">
            <a:avLst/>
          </a:prstGeom>
          <a:solidFill>
            <a:srgbClr val="E7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8" y="4990338"/>
            <a:ext cx="10591800" cy="1026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D496D"/>
                </a:solidFill>
              </a:defRPr>
            </a:pPr>
            <a:r>
              <a:t>Criterios de aceptación</a:t>
            </a:r>
          </a:p>
          <a:p>
            <a:pPr>
              <a:spcBef>
                <a:spcPts val="300"/>
              </a:spcBef>
              <a:defRPr sz="1300">
                <a:solidFill>
                  <a:srgbClr val="23303E"/>
                </a:solidFill>
              </a:defRPr>
            </a:pPr>
            <a:r>
              <a:t>Cobertura de etapas críticas, concordancia técnica, completitud de listas y resolución de observaciones.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291072"/>
            <a:ext cx="11003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05F6E"/>
                </a:solidFill>
              </a:defRPr>
            </a:pPr>
            <a:r>
              <a:t>El manual no queda validado solamente por estar redactado o tener bibliografía.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86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3314F"/>
                </a:solidFill>
              </a:rPr>
              <a:t>Investigación-acción y Design Thinking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1024128"/>
            <a:ext cx="11058144" cy="1136142"/>
          </a:xfrm>
          <a:prstGeom prst="roundRect">
            <a:avLst/>
          </a:prstGeom>
          <a:solidFill>
            <a:srgbClr val="E7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95528" y="1115568"/>
            <a:ext cx="10591800" cy="1026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D496D"/>
                </a:solidFill>
              </a:defRPr>
            </a:pPr>
            <a:r>
              <a:t>Investigación-acción</a:t>
            </a:r>
          </a:p>
          <a:p>
            <a:pPr>
              <a:spcBef>
                <a:spcPts val="300"/>
              </a:spcBef>
              <a:defRPr sz="1300">
                <a:solidFill>
                  <a:srgbClr val="23303E"/>
                </a:solidFill>
              </a:defRPr>
            </a:pPr>
            <a:r>
              <a:t>Ciclo participativo: diagnóstico → planificación → acción → observación → reflexión; pertinente cuando se transforma una práctica.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2315718"/>
            <a:ext cx="11058144" cy="1136142"/>
          </a:xfrm>
          <a:prstGeom prst="roundRect">
            <a:avLst/>
          </a:prstGeom>
          <a:solidFill>
            <a:srgbClr val="E7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5528" y="2407158"/>
            <a:ext cx="10591800" cy="1026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D496D"/>
                </a:solidFill>
              </a:defRPr>
            </a:pPr>
            <a:r>
              <a:t>Design Thinking</a:t>
            </a:r>
          </a:p>
          <a:p>
            <a:pPr>
              <a:spcBef>
                <a:spcPts val="300"/>
              </a:spcBef>
              <a:defRPr sz="1300">
                <a:solidFill>
                  <a:srgbClr val="23303E"/>
                </a:solidFill>
              </a:defRPr>
            </a:pPr>
            <a:r>
              <a:t>Empatizar, definir, idear, prototipar y probar; útil para necesidades de usuarios y propuestas centradas en uso.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607308"/>
            <a:ext cx="11058144" cy="1136142"/>
          </a:xfrm>
          <a:prstGeom prst="roundRect">
            <a:avLst/>
          </a:prstGeom>
          <a:solidFill>
            <a:srgbClr val="E7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8" y="3698748"/>
            <a:ext cx="10591800" cy="1026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D496D"/>
                </a:solidFill>
              </a:defRPr>
            </a:pPr>
            <a:r>
              <a:t>Diferencias</a:t>
            </a:r>
          </a:p>
          <a:p>
            <a:pPr>
              <a:spcBef>
                <a:spcPts val="300"/>
              </a:spcBef>
              <a:defRPr sz="1300">
                <a:solidFill>
                  <a:srgbClr val="23303E"/>
                </a:solidFill>
              </a:defRPr>
            </a:pPr>
            <a:r>
              <a:t>Investigación-acción produce aprendizaje mediante intervención reflexiva; Design Thinking orienta exploración y diseño de soluciones.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4898898"/>
            <a:ext cx="11058144" cy="1136142"/>
          </a:xfrm>
          <a:prstGeom prst="roundRect">
            <a:avLst/>
          </a:prstGeom>
          <a:solidFill>
            <a:srgbClr val="E7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8" y="4990338"/>
            <a:ext cx="10591800" cy="1026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D496D"/>
                </a:solidFill>
              </a:defRPr>
            </a:pPr>
            <a:r>
              <a:t>Limitaciones</a:t>
            </a:r>
          </a:p>
          <a:p>
            <a:pPr>
              <a:spcBef>
                <a:spcPts val="300"/>
              </a:spcBef>
              <a:defRPr sz="1300">
                <a:solidFill>
                  <a:srgbClr val="23303E"/>
                </a:solidFill>
              </a:defRPr>
            </a:pPr>
            <a:r>
              <a:t>No reemplazan pruebas de seguridad, requisitos técnicos, revisión normativa ni evaluación rigurosa del desempeño.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291072"/>
            <a:ext cx="11003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05F6E"/>
                </a:solidFill>
              </a:defRPr>
            </a:pPr>
            <a:r>
              <a:t>Aplicación posible: co-diseñar el manual con instaladores y comunidades, sin sustituir la validación técnica.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86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3314F"/>
                </a:solidFill>
              </a:rPr>
              <a:t>Cómo justificar una metodología en TDTA III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1024128"/>
            <a:ext cx="11058144" cy="1136142"/>
          </a:xfrm>
          <a:prstGeom prst="roundRect">
            <a:avLst/>
          </a:prstGeom>
          <a:solidFill>
            <a:srgbClr val="E7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95528" y="1115568"/>
            <a:ext cx="10591800" cy="1026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D496D"/>
                </a:solidFill>
              </a:defRPr>
            </a:pPr>
            <a:r>
              <a:t>1. Objeto</a:t>
            </a:r>
          </a:p>
          <a:p>
            <a:pPr>
              <a:spcBef>
                <a:spcPts val="300"/>
              </a:spcBef>
              <a:defRPr sz="1300">
                <a:solidFill>
                  <a:srgbClr val="23303E"/>
                </a:solidFill>
              </a:defRPr>
            </a:pPr>
            <a:r>
              <a:t>¿Qué producto o conocimiento se pretende obtener y qué pregunta central se responderá?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2315718"/>
            <a:ext cx="11058144" cy="1136142"/>
          </a:xfrm>
          <a:prstGeom prst="roundRect">
            <a:avLst/>
          </a:prstGeom>
          <a:solidFill>
            <a:srgbClr val="E7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5528" y="2407158"/>
            <a:ext cx="10591800" cy="1026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D496D"/>
                </a:solidFill>
              </a:defRPr>
            </a:pPr>
            <a:r>
              <a:t>2. Coherencia</a:t>
            </a:r>
          </a:p>
          <a:p>
            <a:pPr>
              <a:spcBef>
                <a:spcPts val="300"/>
              </a:spcBef>
              <a:defRPr sz="1300">
                <a:solidFill>
                  <a:srgbClr val="23303E"/>
                </a:solidFill>
              </a:defRPr>
            </a:pPr>
            <a:r>
              <a:t>¿Cómo conectan problema, objetivos, método, técnicas, entregables y criterios de aceptación?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607308"/>
            <a:ext cx="11058144" cy="1136142"/>
          </a:xfrm>
          <a:prstGeom prst="roundRect">
            <a:avLst/>
          </a:prstGeom>
          <a:solidFill>
            <a:srgbClr val="E7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8" y="3698748"/>
            <a:ext cx="10591800" cy="1026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D496D"/>
                </a:solidFill>
              </a:defRPr>
            </a:pPr>
            <a:r>
              <a:t>3. Factibilidad</a:t>
            </a:r>
          </a:p>
          <a:p>
            <a:pPr>
              <a:spcBef>
                <a:spcPts val="300"/>
              </a:spcBef>
              <a:defRPr sz="1300">
                <a:solidFill>
                  <a:srgbClr val="23303E"/>
                </a:solidFill>
              </a:defRPr>
            </a:pPr>
            <a:r>
              <a:t>¿Hay tiempo, muestras, recursos, permisos, herramientas y competencias suficientes para TDTA IV–V?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4898898"/>
            <a:ext cx="11058144" cy="1136142"/>
          </a:xfrm>
          <a:prstGeom prst="roundRect">
            <a:avLst/>
          </a:prstGeom>
          <a:solidFill>
            <a:srgbClr val="E7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8" y="4990338"/>
            <a:ext cx="10591800" cy="1026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D496D"/>
                </a:solidFill>
              </a:defRPr>
            </a:pPr>
            <a:r>
              <a:t>4. Evidencia</a:t>
            </a:r>
          </a:p>
          <a:p>
            <a:pPr>
              <a:spcBef>
                <a:spcPts val="300"/>
              </a:spcBef>
              <a:defRPr sz="1300">
                <a:solidFill>
                  <a:srgbClr val="23303E"/>
                </a:solidFill>
              </a:defRPr>
            </a:pPr>
            <a:r>
              <a:t>¿Qué documento, dato, simulación o revisión demostrará que cada etapa se completó?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291072"/>
            <a:ext cx="11003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05F6E"/>
                </a:solidFill>
              </a:defRPr>
            </a:pPr>
            <a:r>
              <a:t>Ruta A: auditar y ajustar lo existente. Ruta B: formular y justificar desde el inicio.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02920" y="347472"/>
            <a:ext cx="11247120" cy="530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2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Investigación y tesis: enfoques principales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30352" y="950976"/>
            <a:ext cx="11064240" cy="4754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268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elige según la naturaleza de la pregunta y los datos.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30352" y="6519672"/>
            <a:ext cx="1005840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268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TDTA III · Ingeniería en Automatización · UAQ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251960" y="2286000"/>
            <a:ext cx="3657600" cy="868680"/>
          </a:xfrm>
          <a:prstGeom prst="roundRect">
            <a:avLst>
              <a:gd name="adj" fmla="val 14737"/>
            </a:avLst>
          </a:prstGeom>
          <a:solidFill>
            <a:srgbClr val="FFFFFF"/>
          </a:solidFill>
          <a:ln w="12700">
            <a:solidFill>
              <a:srgbClr val="12354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4361688" y="2359152"/>
            <a:ext cx="3438144" cy="72237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20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INVESTIGACIÓN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502920" y="1554480"/>
            <a:ext cx="3474720" cy="76809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7463A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612648" y="1627632"/>
            <a:ext cx="3255264" cy="6217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0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Cuantitativo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02920" y="2359152"/>
            <a:ext cx="3474720" cy="49377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268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Medición, variables, estadística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38160" y="1554480"/>
            <a:ext cx="3474720" cy="76809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7463A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8247888" y="1627632"/>
            <a:ext cx="3255264" cy="6217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0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Cualitativo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138160" y="2359152"/>
            <a:ext cx="3474720" cy="49377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268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Entrevistas, observación, categorías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2971800"/>
            <a:ext cx="3474720" cy="76809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7463A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612648" y="3044952"/>
            <a:ext cx="3255264" cy="6217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0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Mixto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02920" y="3776472"/>
            <a:ext cx="3474720" cy="49377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268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Integración de evidencias cuantitativas y cualitativas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763342" y="3154680"/>
            <a:ext cx="374818" cy="320040"/>
          </a:xfrm>
          <a:prstGeom prst="line">
            <a:avLst/>
          </a:prstGeom>
          <a:noFill/>
          <a:ln w="25400">
            <a:solidFill>
              <a:srgbClr val="7463A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Shape 19"/>
          <p:cNvSpPr/>
          <p:nvPr/>
        </p:nvSpPr>
        <p:spPr>
          <a:xfrm>
            <a:off x="8138160" y="2971800"/>
            <a:ext cx="3474720" cy="76809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7463A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8247888" y="3044952"/>
            <a:ext cx="3255264" cy="6217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0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Experimental / no experimental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138160" y="3776472"/>
            <a:ext cx="3474720" cy="49377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268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Intervención y control, o estudio sin manipulación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94360" y="6172200"/>
            <a:ext cx="109728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2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TDTA III: pregunta, diseño, muestra o casos, instrumentos y plan de análisis.</a:t>
            </a:r>
            <a:endParaRPr lang="en-US" sz="1300" dirty="0"/>
          </a:p>
        </p:txBody>
      </p:sp>
      <p:cxnSp>
        <p:nvCxnSpPr>
          <p:cNvPr id="25" name="Connector 24"/>
          <p:cNvCxnSpPr>
            <a:cxnSpLocks/>
          </p:cNvCxnSpPr>
          <p:nvPr/>
        </p:nvCxnSpPr>
        <p:spPr>
          <a:xfrm flipH="1" flipV="1">
            <a:off x="3674853" y="2322576"/>
            <a:ext cx="577107" cy="196337"/>
          </a:xfrm>
          <a:prstGeom prst="line">
            <a:avLst/>
          </a:prstGeom>
          <a:ln w="25400">
            <a:solidFill>
              <a:srgbClr val="4972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>
            <a:cxnSpLocks/>
          </p:cNvCxnSpPr>
          <p:nvPr/>
        </p:nvCxnSpPr>
        <p:spPr>
          <a:xfrm flipV="1">
            <a:off x="7617125" y="1947672"/>
            <a:ext cx="521035" cy="338328"/>
          </a:xfrm>
          <a:prstGeom prst="line">
            <a:avLst/>
          </a:prstGeom>
          <a:ln w="25400">
            <a:solidFill>
              <a:srgbClr val="4972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>
            <a:cxnSpLocks/>
            <a:stCxn id="6" idx="1"/>
          </p:cNvCxnSpPr>
          <p:nvPr/>
        </p:nvCxnSpPr>
        <p:spPr>
          <a:xfrm flipH="1">
            <a:off x="3674853" y="2720340"/>
            <a:ext cx="577107" cy="251460"/>
          </a:xfrm>
          <a:prstGeom prst="line">
            <a:avLst/>
          </a:prstGeom>
          <a:ln w="25400">
            <a:solidFill>
              <a:srgbClr val="4972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02920" y="347472"/>
            <a:ext cx="11247120" cy="530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2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Prototipos y desarrollo tecnológico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30352" y="950976"/>
            <a:ext cx="11064240" cy="4754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268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Métodos de diseño para transformar necesidades en especificaciones.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30352" y="6519672"/>
            <a:ext cx="1005840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268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TDTA III · Ingeniería en Automatización · UAQ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251960" y="2286000"/>
            <a:ext cx="3657600" cy="868680"/>
          </a:xfrm>
          <a:prstGeom prst="roundRect">
            <a:avLst>
              <a:gd name="adj" fmla="val 14737"/>
            </a:avLst>
          </a:prstGeom>
          <a:solidFill>
            <a:srgbClr val="FFFFFF"/>
          </a:solidFill>
          <a:ln w="12700">
            <a:solidFill>
              <a:srgbClr val="12354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4361688" y="2359152"/>
            <a:ext cx="3438144" cy="72237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20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DESARROLLO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502920" y="1554480"/>
            <a:ext cx="3474720" cy="76809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9A4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612648" y="1627632"/>
            <a:ext cx="3255264" cy="6217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0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Diseño sistemático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02920" y="2359152"/>
            <a:ext cx="3474720" cy="49377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268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Funciones → conceptos → diseño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38160" y="1554480"/>
            <a:ext cx="3474720" cy="76809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9A4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8247888" y="1627632"/>
            <a:ext cx="3255264" cy="6217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0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Diseño iterativo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138160" y="2359152"/>
            <a:ext cx="3474720" cy="49377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268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Construir → evaluar → mejorar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2971800"/>
            <a:ext cx="3474720" cy="76809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9A4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612648" y="3044952"/>
            <a:ext cx="3255264" cy="6217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0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Diseño centrado en usuario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02920" y="3776472"/>
            <a:ext cx="3474720" cy="49377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268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Necesidades → uso → retroalimentación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714893" y="3172968"/>
            <a:ext cx="423267" cy="329184"/>
          </a:xfrm>
          <a:prstGeom prst="line">
            <a:avLst/>
          </a:prstGeom>
          <a:noFill/>
          <a:ln w="25400">
            <a:solidFill>
              <a:srgbClr val="E59A4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Shape 19"/>
          <p:cNvSpPr/>
          <p:nvPr/>
        </p:nvSpPr>
        <p:spPr>
          <a:xfrm>
            <a:off x="8138160" y="2971800"/>
            <a:ext cx="3474720" cy="76809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9A4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8247888" y="3044952"/>
            <a:ext cx="3255264" cy="6217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0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Diseño para pruebas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138160" y="3776472"/>
            <a:ext cx="3474720" cy="49377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268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Criterios de desempeño y ensayo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94360" y="6172200"/>
            <a:ext cx="109728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2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TDTA III: requisitos, alternativas, propuesta conceptual y plan de pruebas.</a:t>
            </a:r>
            <a:endParaRPr lang="en-US" sz="1300" dirty="0"/>
          </a:p>
        </p:txBody>
      </p:sp>
      <p:cxnSp>
        <p:nvCxnSpPr>
          <p:cNvPr id="25" name="Connector 24"/>
          <p:cNvCxnSpPr>
            <a:cxnSpLocks/>
          </p:cNvCxnSpPr>
          <p:nvPr/>
        </p:nvCxnSpPr>
        <p:spPr>
          <a:xfrm flipH="1" flipV="1">
            <a:off x="3752491" y="2322576"/>
            <a:ext cx="499469" cy="248096"/>
          </a:xfrm>
          <a:prstGeom prst="line">
            <a:avLst/>
          </a:prstGeom>
          <a:ln w="25400">
            <a:solidFill>
              <a:srgbClr val="4972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>
            <a:cxnSpLocks/>
            <a:endCxn id="13" idx="1"/>
          </p:cNvCxnSpPr>
          <p:nvPr/>
        </p:nvCxnSpPr>
        <p:spPr>
          <a:xfrm flipV="1">
            <a:off x="7571232" y="1938528"/>
            <a:ext cx="566928" cy="347472"/>
          </a:xfrm>
          <a:prstGeom prst="line">
            <a:avLst/>
          </a:prstGeom>
          <a:ln w="25400">
            <a:solidFill>
              <a:srgbClr val="4972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>
            <a:cxnSpLocks/>
          </p:cNvCxnSpPr>
          <p:nvPr/>
        </p:nvCxnSpPr>
        <p:spPr>
          <a:xfrm flipH="1">
            <a:off x="3977640" y="3172968"/>
            <a:ext cx="499469" cy="443225"/>
          </a:xfrm>
          <a:prstGeom prst="line">
            <a:avLst/>
          </a:prstGeom>
          <a:ln w="25400">
            <a:solidFill>
              <a:srgbClr val="4972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02920" y="347472"/>
            <a:ext cx="11247120" cy="530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2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Automatización e integración de sistemas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30352" y="950976"/>
            <a:ext cx="11064240" cy="4754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268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ingeniería de sistemas conecta requisitos, arquitectura y evidencias.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30352" y="6519672"/>
            <a:ext cx="1005840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268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TDTA III · Ingeniería en Automatización · UAQ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251960" y="2286000"/>
            <a:ext cx="3657600" cy="868680"/>
          </a:xfrm>
          <a:prstGeom prst="roundRect">
            <a:avLst>
              <a:gd name="adj" fmla="val 14737"/>
            </a:avLst>
          </a:prstGeom>
          <a:solidFill>
            <a:srgbClr val="FFFFFF"/>
          </a:solidFill>
          <a:ln w="12700">
            <a:solidFill>
              <a:srgbClr val="12354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4361688" y="2359152"/>
            <a:ext cx="3438144" cy="72237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20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INTEGRACIÓN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502920" y="1554480"/>
            <a:ext cx="3474720" cy="76809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612648" y="1627632"/>
            <a:ext cx="3255264" cy="6217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0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Ingeniería de sistemas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02920" y="2359152"/>
            <a:ext cx="3474720" cy="49377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268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Necesidades → requisitos → arquitectura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38160" y="1554480"/>
            <a:ext cx="3474720" cy="76809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8247888" y="1627632"/>
            <a:ext cx="3255264" cy="6217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0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 en V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138160" y="2359152"/>
            <a:ext cx="3474720" cy="49377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268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Diseño y verificación correspondientes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2971800"/>
            <a:ext cx="3474720" cy="76809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612648" y="3044952"/>
            <a:ext cx="3255264" cy="6217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0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Diseño basado en modelos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02920" y="3776472"/>
            <a:ext cx="3474720" cy="49377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268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Diagramas de estados, procesos, interfaces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613242" y="3163823"/>
            <a:ext cx="524918" cy="287777"/>
          </a:xfrm>
          <a:prstGeom prst="line">
            <a:avLst/>
          </a:prstGeom>
          <a:noFill/>
          <a:ln w="2540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Shape 19"/>
          <p:cNvSpPr/>
          <p:nvPr/>
        </p:nvSpPr>
        <p:spPr>
          <a:xfrm>
            <a:off x="8138160" y="2971800"/>
            <a:ext cx="3474720" cy="76809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8247888" y="3044952"/>
            <a:ext cx="3255264" cy="6217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0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Desarrollo incremental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138160" y="3776472"/>
            <a:ext cx="3474720" cy="49377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268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Subsistemas → integración progresiva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94360" y="6172200"/>
            <a:ext cx="109728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2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TDTA III: matriz de requisitos, interfaces, arquitectura y estrategia de validación.</a:t>
            </a:r>
            <a:endParaRPr lang="en-US" sz="1300" dirty="0"/>
          </a:p>
        </p:txBody>
      </p:sp>
      <p:cxnSp>
        <p:nvCxnSpPr>
          <p:cNvPr id="25" name="Connector 24"/>
          <p:cNvCxnSpPr>
            <a:cxnSpLocks/>
          </p:cNvCxnSpPr>
          <p:nvPr/>
        </p:nvCxnSpPr>
        <p:spPr>
          <a:xfrm flipH="1" flipV="1">
            <a:off x="3982212" y="1737360"/>
            <a:ext cx="379476" cy="548640"/>
          </a:xfrm>
          <a:prstGeom prst="line">
            <a:avLst/>
          </a:prstGeom>
          <a:ln w="25400">
            <a:solidFill>
              <a:srgbClr val="4972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>
            <a:cxnSpLocks/>
            <a:endCxn id="13" idx="1"/>
          </p:cNvCxnSpPr>
          <p:nvPr/>
        </p:nvCxnSpPr>
        <p:spPr>
          <a:xfrm flipV="1">
            <a:off x="7525512" y="1938528"/>
            <a:ext cx="612648" cy="338328"/>
          </a:xfrm>
          <a:prstGeom prst="line">
            <a:avLst/>
          </a:prstGeom>
          <a:ln w="25400">
            <a:solidFill>
              <a:srgbClr val="4972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>
            <a:cxnSpLocks/>
          </p:cNvCxnSpPr>
          <p:nvPr/>
        </p:nvCxnSpPr>
        <p:spPr>
          <a:xfrm flipH="1">
            <a:off x="3978071" y="3172968"/>
            <a:ext cx="524918" cy="425455"/>
          </a:xfrm>
          <a:prstGeom prst="line">
            <a:avLst/>
          </a:prstGeom>
          <a:ln w="25400">
            <a:solidFill>
              <a:srgbClr val="4972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02920" y="347472"/>
            <a:ext cx="11247120" cy="530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2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Innovación aplicada y solución de problemas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30352" y="950976"/>
            <a:ext cx="11064240" cy="4754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268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toda innovación requiere construir un dispositivo.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30352" y="6519672"/>
            <a:ext cx="1005840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268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TDTA III · Ingeniería en Automatización · UAQ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251960" y="2286000"/>
            <a:ext cx="3657600" cy="868680"/>
          </a:xfrm>
          <a:prstGeom prst="roundRect">
            <a:avLst>
              <a:gd name="adj" fmla="val 14737"/>
            </a:avLst>
          </a:prstGeom>
          <a:solidFill>
            <a:srgbClr val="FFFFFF"/>
          </a:solidFill>
          <a:ln w="12700">
            <a:solidFill>
              <a:srgbClr val="12354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4361688" y="2359152"/>
            <a:ext cx="3438144" cy="72237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20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INNOVACIÓN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502920" y="1554480"/>
            <a:ext cx="3474720" cy="76809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488C7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612648" y="1627632"/>
            <a:ext cx="3255264" cy="6217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0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Thinking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02920" y="2359152"/>
            <a:ext cx="3474720" cy="49377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268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Empatizar → definir → idear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38160" y="1554480"/>
            <a:ext cx="3474720" cy="76809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488C7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8247888" y="1627632"/>
            <a:ext cx="3255264" cy="6217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0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Investigación-acción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138160" y="2359152"/>
            <a:ext cx="3474720" cy="49377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268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Diagnosticar → intervenir → reflexionar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2971800"/>
            <a:ext cx="3474720" cy="76809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488C7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612648" y="3044952"/>
            <a:ext cx="3255264" cy="6217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0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Lean Startup (cuando aplique)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02920" y="3776472"/>
            <a:ext cx="3474720" cy="49377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268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Hipótesis → prueba → aprendizaje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456932" y="3154680"/>
            <a:ext cx="681228" cy="512064"/>
          </a:xfrm>
          <a:prstGeom prst="line">
            <a:avLst/>
          </a:prstGeom>
          <a:noFill/>
          <a:ln w="25400">
            <a:solidFill>
              <a:srgbClr val="488C73"/>
            </a:solidFill>
            <a:prstDash val="solid"/>
          </a:ln>
        </p:spPr>
        <p:txBody>
          <a:bodyPr/>
          <a:lstStyle/>
          <a:p>
            <a:endParaRPr lang="es-MX" dirty="0"/>
          </a:p>
        </p:txBody>
      </p:sp>
      <p:sp>
        <p:nvSpPr>
          <p:cNvPr id="21" name="Shape 19"/>
          <p:cNvSpPr/>
          <p:nvPr/>
        </p:nvSpPr>
        <p:spPr>
          <a:xfrm>
            <a:off x="8138160" y="2971800"/>
            <a:ext cx="3474720" cy="76809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488C7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8247888" y="3044952"/>
            <a:ext cx="3255264" cy="6217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0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Evaluación de impacto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138160" y="3776472"/>
            <a:ext cx="3474720" cy="49377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268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Indicadores y resultados esperados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94360" y="6172200"/>
            <a:ext cx="109728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2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TDTA III: beneficiarios, diagnóstico, alternativas, viabilidad y métricas de impacto.</a:t>
            </a:r>
            <a:endParaRPr lang="en-US" sz="1300" dirty="0"/>
          </a:p>
        </p:txBody>
      </p:sp>
      <p:cxnSp>
        <p:nvCxnSpPr>
          <p:cNvPr id="25" name="Connector 24"/>
          <p:cNvCxnSpPr>
            <a:cxnSpLocks/>
          </p:cNvCxnSpPr>
          <p:nvPr/>
        </p:nvCxnSpPr>
        <p:spPr>
          <a:xfrm flipH="1" flipV="1">
            <a:off x="3982212" y="1764792"/>
            <a:ext cx="529403" cy="512064"/>
          </a:xfrm>
          <a:prstGeom prst="line">
            <a:avLst/>
          </a:prstGeom>
          <a:ln w="25400">
            <a:solidFill>
              <a:srgbClr val="4972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>
            <a:cxnSpLocks/>
            <a:endCxn id="13" idx="1"/>
          </p:cNvCxnSpPr>
          <p:nvPr/>
        </p:nvCxnSpPr>
        <p:spPr>
          <a:xfrm flipV="1">
            <a:off x="7571232" y="1938528"/>
            <a:ext cx="566928" cy="374904"/>
          </a:xfrm>
          <a:prstGeom prst="line">
            <a:avLst/>
          </a:prstGeom>
          <a:ln w="25400">
            <a:solidFill>
              <a:srgbClr val="4972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>
            <a:cxnSpLocks/>
          </p:cNvCxnSpPr>
          <p:nvPr/>
        </p:nvCxnSpPr>
        <p:spPr>
          <a:xfrm flipH="1">
            <a:off x="3982212" y="3154680"/>
            <a:ext cx="658799" cy="430976"/>
          </a:xfrm>
          <a:prstGeom prst="line">
            <a:avLst/>
          </a:prstGeom>
          <a:ln w="25400">
            <a:solidFill>
              <a:srgbClr val="4972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02920" y="347472"/>
            <a:ext cx="11247120" cy="530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2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Ruta A y Ruta B: misma exigencia, distinto punto de partida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30352" y="950976"/>
            <a:ext cx="11064240" cy="4754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268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metodología se adapta al grado de madurez, no al revés.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30352" y="6519672"/>
            <a:ext cx="1005840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268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TDTA III · Ingeniería en Automatización · UAQ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1600200"/>
            <a:ext cx="5120640" cy="749808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1270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795528" y="1673352"/>
            <a:ext cx="4901184" cy="6035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20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RUTA A · CONTINUIDAD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6355080" y="1600200"/>
            <a:ext cx="5120640" cy="749808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12700">
            <a:solidFill>
              <a:srgbClr val="E59A4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6464808" y="1673352"/>
            <a:ext cx="4901184" cy="6035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20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RUTA B · NUEVA CREACIÓN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731520" y="2724912"/>
            <a:ext cx="118872" cy="118872"/>
          </a:xfrm>
          <a:prstGeom prst="ellipse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1033272" y="2606040"/>
            <a:ext cx="4617720" cy="594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20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Auditar métodos y evidencias existentes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731520" y="3511296"/>
            <a:ext cx="118872" cy="118872"/>
          </a:xfrm>
          <a:prstGeom prst="ellipse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1033272" y="3392424"/>
            <a:ext cx="4617720" cy="594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20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Identificar brechas y supuestos pendientes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731520" y="4297680"/>
            <a:ext cx="118872" cy="118872"/>
          </a:xfrm>
          <a:prstGeom prst="ellipse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1033272" y="4178808"/>
            <a:ext cx="4617720" cy="594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20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Actualizar procedimientos y criterios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731520" y="5084064"/>
            <a:ext cx="118872" cy="118872"/>
          </a:xfrm>
          <a:prstGeom prst="ellipse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1033272" y="4965192"/>
            <a:ext cx="4617720" cy="594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20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Planificar lo que falta para TDTA IV–V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6400800" y="2724912"/>
            <a:ext cx="118872" cy="118872"/>
          </a:xfrm>
          <a:prstGeom prst="ellipse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6702552" y="2606040"/>
            <a:ext cx="4617720" cy="594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20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Seleccionar enfoque y justificarlo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6400800" y="3511296"/>
            <a:ext cx="118872" cy="118872"/>
          </a:xfrm>
          <a:prstGeom prst="ellipse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6702552" y="3392424"/>
            <a:ext cx="4617720" cy="594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20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Definir etapas y procedimientos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6400800" y="4297680"/>
            <a:ext cx="118872" cy="118872"/>
          </a:xfrm>
          <a:prstGeom prst="ellipse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Text 21"/>
          <p:cNvSpPr/>
          <p:nvPr/>
        </p:nvSpPr>
        <p:spPr>
          <a:xfrm>
            <a:off x="6702552" y="4178808"/>
            <a:ext cx="4617720" cy="594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20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Precisar requisitos o variables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6400800" y="5084064"/>
            <a:ext cx="118872" cy="118872"/>
          </a:xfrm>
          <a:prstGeom prst="ellipse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Text 23"/>
          <p:cNvSpPr/>
          <p:nvPr/>
        </p:nvSpPr>
        <p:spPr>
          <a:xfrm>
            <a:off x="6702552" y="4965192"/>
            <a:ext cx="4617720" cy="594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20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Planificar evidencias para TDTA IV–V</a:t>
            </a:r>
            <a:endParaRPr lang="en-US" sz="1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02920" y="347472"/>
            <a:ext cx="11247120" cy="530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2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debe incluir el plan metodológico de la Unidad 3?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30352" y="950976"/>
            <a:ext cx="11064240" cy="4754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268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Producto evaluable al cierre de la semana 9 · valor: 20 % de la asignatura.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30352" y="6519672"/>
            <a:ext cx="1005840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268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TDTA III · Ingeniería en Automatización · UAQ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1143000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270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749808" y="1581912"/>
            <a:ext cx="923544" cy="58521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0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35 %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011680" y="1527048"/>
            <a:ext cx="384048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2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Coherencia metodológica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263640" y="1372808"/>
            <a:ext cx="5486400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20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Método pertinente a los objetivos y modalidad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40080" y="2633472"/>
            <a:ext cx="1143000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270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749808" y="2706624"/>
            <a:ext cx="923544" cy="58521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0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25 %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011680" y="2651760"/>
            <a:ext cx="384048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2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Requisitos o preguntas/variables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263640" y="2497520"/>
            <a:ext cx="5486400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20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Criterios claros y verificables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40080" y="3758184"/>
            <a:ext cx="1143000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270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749808" y="3831336"/>
            <a:ext cx="923544" cy="58521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0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25 %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011680" y="3776472"/>
            <a:ext cx="384048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2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Alcance y entregables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263640" y="3622232"/>
            <a:ext cx="5486400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20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Límites, exclusiones y productos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40080" y="4882896"/>
            <a:ext cx="1143000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270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749808" y="4956048"/>
            <a:ext cx="923544" cy="58521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0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15 %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2011680" y="4901184"/>
            <a:ext cx="384048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2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Trazabilidad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263640" y="4746944"/>
            <a:ext cx="5486400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20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Problema → objetivos → método → evidencias</a:t>
            </a:r>
            <a:endParaRPr lang="en-US" sz="17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27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63146"/>
                </a:solidFill>
              </a:defRPr>
            </a:pPr>
            <a:r>
              <a:t>Cómo elegir una metodología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234440"/>
            <a:ext cx="3618992" cy="3566160"/>
          </a:xfrm>
          <a:prstGeom prst="rect">
            <a:avLst/>
          </a:prstGeom>
          <a:solidFill>
            <a:srgbClr val="E2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3344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63146"/>
                </a:solidFill>
              </a:defRPr>
            </a:pPr>
            <a:r>
              <a:t>Naturaleza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334467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63146"/>
                </a:solidFill>
              </a:defRPr>
            </a:pPr>
            <a:r>
              <a:t>¿Se investiga, diseña, integra o documenta?</a:t>
            </a:r>
          </a:p>
        </p:txBody>
      </p:sp>
      <p:sp>
        <p:nvSpPr>
          <p:cNvPr id="6" name="Rectangle 5"/>
          <p:cNvSpPr/>
          <p:nvPr/>
        </p:nvSpPr>
        <p:spPr>
          <a:xfrm>
            <a:off x="4286504" y="1234440"/>
            <a:ext cx="3618992" cy="3566160"/>
          </a:xfrm>
          <a:prstGeom prst="rect">
            <a:avLst/>
          </a:prstGeom>
          <a:solidFill>
            <a:srgbClr val="E2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423664" y="1417320"/>
            <a:ext cx="3344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63146"/>
                </a:solidFill>
              </a:defRPr>
            </a:pPr>
            <a:r>
              <a:t>Evidencia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23664" y="2148840"/>
            <a:ext cx="334467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63146"/>
                </a:solidFill>
              </a:defRPr>
            </a:pPr>
            <a:r>
              <a:t>¿Qué producto verificable se necesita?</a:t>
            </a:r>
          </a:p>
        </p:txBody>
      </p:sp>
      <p:sp>
        <p:nvSpPr>
          <p:cNvPr id="9" name="Rectangle 8"/>
          <p:cNvSpPr/>
          <p:nvPr/>
        </p:nvSpPr>
        <p:spPr>
          <a:xfrm>
            <a:off x="8070088" y="1234440"/>
            <a:ext cx="3618992" cy="3566160"/>
          </a:xfrm>
          <a:prstGeom prst="rect">
            <a:avLst/>
          </a:prstGeom>
          <a:solidFill>
            <a:srgbClr val="E2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07248" y="1417320"/>
            <a:ext cx="3344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63146"/>
                </a:solidFill>
              </a:defRPr>
            </a:pPr>
            <a:r>
              <a:t>Validación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07248" y="2148840"/>
            <a:ext cx="334467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63146"/>
                </a:solidFill>
              </a:defRPr>
            </a:pPr>
            <a:r>
              <a:t>¿Cómo sabremos si cumple su propósito?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897880"/>
            <a:ext cx="1100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475462"/>
                </a:solidFill>
              </a:defRPr>
            </a:pPr>
            <a:r>
              <a:t>No se selecciona una metodología por su nombre: se justifica por el problema, los objetivos y las evidencias.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27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63146"/>
                </a:solidFill>
              </a:defRPr>
            </a:pPr>
            <a:r>
              <a:t>Caso 1 · Robot Delta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234440"/>
            <a:ext cx="3618992" cy="3566160"/>
          </a:xfrm>
          <a:prstGeom prst="rect">
            <a:avLst/>
          </a:prstGeom>
          <a:solidFill>
            <a:srgbClr val="E2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3344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63146"/>
                </a:solidFill>
              </a:defRPr>
            </a:pPr>
            <a:r>
              <a:t>Diseño sistemático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334467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63146"/>
                </a:solidFill>
              </a:defRPr>
            </a:pPr>
            <a:r>
              <a:t>Necesidad → requisitos → alternativas → diseño conceptual → especificaciones.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286504" y="1234440"/>
            <a:ext cx="3618992" cy="3566160"/>
          </a:xfrm>
          <a:prstGeom prst="rect">
            <a:avLst/>
          </a:prstGeom>
          <a:solidFill>
            <a:srgbClr val="E2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423664" y="1417320"/>
            <a:ext cx="3344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63146"/>
                </a:solidFill>
              </a:defRPr>
            </a:pPr>
            <a:r>
              <a:t>Modelo en 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23664" y="2148840"/>
            <a:ext cx="334467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63146"/>
                </a:solidFill>
              </a:defRPr>
            </a:pPr>
            <a:r>
              <a:t>Cada requisito debe vincularse con una prueba o criterio de aceptación.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70088" y="1234440"/>
            <a:ext cx="3618992" cy="3566160"/>
          </a:xfrm>
          <a:prstGeom prst="rect">
            <a:avLst/>
          </a:prstGeom>
          <a:solidFill>
            <a:srgbClr val="E2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07248" y="1417320"/>
            <a:ext cx="3344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63146"/>
                </a:solidFill>
              </a:defRPr>
            </a:pPr>
            <a:r>
              <a:t>Iteración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07248" y="2148840"/>
            <a:ext cx="334467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63146"/>
                </a:solidFill>
              </a:defRPr>
            </a:pPr>
            <a:r>
              <a:t>Modelar, simular, revisar decisiones y actualizar el diseño.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897880"/>
            <a:ext cx="1100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475462"/>
                </a:solidFill>
              </a:defRPr>
            </a:pPr>
            <a:r>
              <a:t>Ejercicio U3: construir una matriz requisito–procedimiento–evidencia. La carpeta U2 del equipo no pudo verificarse desde el enlace.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27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63146"/>
                </a:solidFill>
              </a:defRPr>
            </a:pPr>
            <a:r>
              <a:t>Robot Delta · Ejemplo de aplicación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234440"/>
            <a:ext cx="3618992" cy="3566160"/>
          </a:xfrm>
          <a:prstGeom prst="rect">
            <a:avLst/>
          </a:prstGeom>
          <a:solidFill>
            <a:srgbClr val="E2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3344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63146"/>
                </a:solidFill>
              </a:defRPr>
            </a:pPr>
            <a:r>
              <a:t>Pregunta guía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334467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63146"/>
                </a:solidFill>
              </a:defRPr>
            </a:pPr>
            <a:r>
              <a:t>¿Qué desempeño debe alcanzar el robot para la tarea definida por el equipo?</a:t>
            </a:r>
          </a:p>
        </p:txBody>
      </p:sp>
      <p:sp>
        <p:nvSpPr>
          <p:cNvPr id="6" name="Rectangle 5"/>
          <p:cNvSpPr/>
          <p:nvPr/>
        </p:nvSpPr>
        <p:spPr>
          <a:xfrm>
            <a:off x="4286504" y="1234440"/>
            <a:ext cx="3618992" cy="3566160"/>
          </a:xfrm>
          <a:prstGeom prst="rect">
            <a:avLst/>
          </a:prstGeom>
          <a:solidFill>
            <a:srgbClr val="E2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423664" y="1417320"/>
            <a:ext cx="3344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63146"/>
                </a:solidFill>
              </a:defRPr>
            </a:pPr>
            <a:r>
              <a:t>Procedimientos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23664" y="2148840"/>
            <a:ext cx="334467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63146"/>
                </a:solidFill>
              </a:defRPr>
            </a:pPr>
            <a:r>
              <a:t>Definir arquitectura mecánica, actuadores, control y simulaciones previstas.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70088" y="1234440"/>
            <a:ext cx="3618992" cy="3566160"/>
          </a:xfrm>
          <a:prstGeom prst="rect">
            <a:avLst/>
          </a:prstGeom>
          <a:solidFill>
            <a:srgbClr val="E2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07248" y="1417320"/>
            <a:ext cx="3344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63146"/>
                </a:solidFill>
              </a:defRPr>
            </a:pPr>
            <a:r>
              <a:t>Evidencias TDTA III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07248" y="2148840"/>
            <a:ext cx="334467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63146"/>
                </a:solidFill>
              </a:defRPr>
            </a:pPr>
            <a:r>
              <a:t>Diagrama conceptual, matriz de requisitos, plan de pruebas y límites del alcance.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897880"/>
            <a:ext cx="1100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475462"/>
                </a:solidFill>
              </a:defRPr>
            </a:pPr>
            <a:r>
              <a:t>Los parámetros de desempeño concretos deben tomarse del expediente del equipo; no se presuponen.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C3048"/>
                </a:solidFill>
              </a:defRPr>
            </a:pPr>
            <a:r>
              <a:t>Caso Robot Delta · FPGA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961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007584"/>
                </a:solidFill>
              </a:defRPr>
            </a:pPr>
            <a:r>
              <a:t>Propuesta fundamentada en el documento U2.5 del equipo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3553968" cy="4160520"/>
          </a:xfrm>
          <a:prstGeom prst="roundRect">
            <a:avLst/>
          </a:prstGeom>
          <a:solidFill>
            <a:srgbClr val="EDF6F8"/>
          </a:solidFill>
          <a:ln>
            <a:solidFill>
              <a:srgbClr val="BC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94944" y="1856231"/>
            <a:ext cx="326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C3048"/>
                </a:solidFill>
              </a:defRPr>
            </a:pPr>
            <a:r>
              <a:t>Base documental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2578608"/>
            <a:ext cx="3261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374650"/>
                </a:solidFill>
              </a:defRPr>
            </a:pPr>
            <a:r>
              <a:t>El equipo propone control multicapa en FPGA con VHDL/Verilog; módulos: controlador, HUD, sensores, FPGA y actuadores.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03775" y="1645920"/>
            <a:ext cx="3553968" cy="4160520"/>
          </a:xfrm>
          <a:prstGeom prst="roundRect">
            <a:avLst/>
          </a:prstGeom>
          <a:solidFill>
            <a:srgbClr val="EDF6F8"/>
          </a:solidFill>
          <a:ln>
            <a:solidFill>
              <a:srgbClr val="BC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50080" y="1856231"/>
            <a:ext cx="326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C3048"/>
                </a:solidFill>
              </a:defRPr>
            </a:pPr>
            <a:r>
              <a:t>Método propuesto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50080" y="2578608"/>
            <a:ext cx="3261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374650"/>
                </a:solidFill>
              </a:defRPr>
            </a:pPr>
            <a:r>
              <a:t>Ingeniería de sistemas + modelo en V + diseño iterativo HDL: requisitos temporales → arquitectura → módulos → simulación → integración → validación.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58911" y="1645920"/>
            <a:ext cx="3553968" cy="4160520"/>
          </a:xfrm>
          <a:prstGeom prst="roundRect">
            <a:avLst/>
          </a:prstGeom>
          <a:solidFill>
            <a:srgbClr val="EDF6F8"/>
          </a:solidFill>
          <a:ln>
            <a:solidFill>
              <a:srgbClr val="BC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05215" y="1856231"/>
            <a:ext cx="326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C3048"/>
                </a:solidFill>
              </a:defRPr>
            </a:pPr>
            <a:r>
              <a:t>Decisiones U3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05215" y="2578608"/>
            <a:ext cx="3261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374650"/>
                </a:solidFill>
              </a:defRPr>
            </a:pPr>
            <a:r>
              <a:t>Definir métricas de error, tiempo de respuesta y recursos; elegir FPGA y sensores; vincular cada requisito con una prueba y una evidencia.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080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74650"/>
                </a:solidFill>
              </a:defRPr>
            </a:pPr>
            <a:r>
              <a:t>Fuente del caso: GitHub Robot-delta, U2.5; marco: INCOSE (2023).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27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63146"/>
                </a:solidFill>
              </a:defRPr>
            </a:pPr>
            <a:r>
              <a:t>Caso 2 · E-Nose para café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234440"/>
            <a:ext cx="3618992" cy="3566160"/>
          </a:xfrm>
          <a:prstGeom prst="rect">
            <a:avLst/>
          </a:prstGeom>
          <a:solidFill>
            <a:srgbClr val="E2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3344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63146"/>
                </a:solidFill>
              </a:defRPr>
            </a:pPr>
            <a:r>
              <a:t>Ingeniería de sistemas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334467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63146"/>
                </a:solidFill>
              </a:defRPr>
            </a:pPr>
            <a:r>
              <a:t>Muestras → matriz de sensores → adquisición → procesamiento → resultado.</a:t>
            </a:r>
          </a:p>
        </p:txBody>
      </p:sp>
      <p:sp>
        <p:nvSpPr>
          <p:cNvPr id="6" name="Rectangle 5"/>
          <p:cNvSpPr/>
          <p:nvPr/>
        </p:nvSpPr>
        <p:spPr>
          <a:xfrm>
            <a:off x="4286504" y="1234440"/>
            <a:ext cx="3618992" cy="3566160"/>
          </a:xfrm>
          <a:prstGeom prst="rect">
            <a:avLst/>
          </a:prstGeom>
          <a:solidFill>
            <a:srgbClr val="E2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423664" y="1417320"/>
            <a:ext cx="3344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63146"/>
                </a:solidFill>
              </a:defRPr>
            </a:pPr>
            <a:r>
              <a:t>Diseño experimental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23664" y="2148840"/>
            <a:ext cx="334467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63146"/>
                </a:solidFill>
              </a:defRPr>
            </a:pPr>
            <a:r>
              <a:t>Definir muestras, referencias, variables de confusión y partición de datos.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70088" y="1234440"/>
            <a:ext cx="3618992" cy="3566160"/>
          </a:xfrm>
          <a:prstGeom prst="rect">
            <a:avLst/>
          </a:prstGeom>
          <a:solidFill>
            <a:srgbClr val="E2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07248" y="1417320"/>
            <a:ext cx="3344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63146"/>
                </a:solidFill>
              </a:defRPr>
            </a:pPr>
            <a:r>
              <a:t>Desarrollo iterativo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07248" y="2148840"/>
            <a:ext cx="334467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63146"/>
                </a:solidFill>
              </a:defRPr>
            </a:pPr>
            <a:r>
              <a:t>Probar alternativas de sensores, procesamiento y modelos de clasificación.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897880"/>
            <a:ext cx="1100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475462"/>
                </a:solidFill>
              </a:defRPr>
            </a:pPr>
            <a:r>
              <a:t>Fuente: planteamiento U2 de E-Nose-Cafe. Propuesta metodológica docente, no declaración del equipo.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27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63146"/>
                </a:solidFill>
              </a:defRPr>
            </a:pPr>
            <a:r>
              <a:t>E-Nose · La validación es clave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234440"/>
            <a:ext cx="3618992" cy="3566160"/>
          </a:xfrm>
          <a:prstGeom prst="rect">
            <a:avLst/>
          </a:prstGeom>
          <a:solidFill>
            <a:srgbClr val="E2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3344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63146"/>
                </a:solidFill>
              </a:defRPr>
            </a:pPr>
            <a:r>
              <a:t>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334467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63146"/>
                </a:solidFill>
              </a:defRPr>
            </a:pPr>
            <a:r>
              <a:t>Distinguir perfiles aromáticos no demuestra por sí solo calidad sensorial.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4286504" y="1234440"/>
            <a:ext cx="3618992" cy="3566160"/>
          </a:xfrm>
          <a:prstGeom prst="rect">
            <a:avLst/>
          </a:prstGeom>
          <a:solidFill>
            <a:srgbClr val="E2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423664" y="1417320"/>
            <a:ext cx="3344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63146"/>
                </a:solidFill>
              </a:defRPr>
            </a:pPr>
            <a:r>
              <a:t>Controles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23664" y="2148840"/>
            <a:ext cx="334467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63146"/>
                </a:solidFill>
              </a:defRPr>
            </a:pPr>
            <a:r>
              <a:t>Considerar origen, tostado, lotes y evaluación de catadores como referencia.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70088" y="1234440"/>
            <a:ext cx="3618992" cy="3566160"/>
          </a:xfrm>
          <a:prstGeom prst="rect">
            <a:avLst/>
          </a:prstGeom>
          <a:solidFill>
            <a:srgbClr val="E2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07248" y="1417320"/>
            <a:ext cx="3344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63146"/>
                </a:solidFill>
              </a:defRPr>
            </a:pPr>
            <a:r>
              <a:t>Evidencia U3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07248" y="2148840"/>
            <a:ext cx="334467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63146"/>
                </a:solidFill>
              </a:defRPr>
            </a:pPr>
            <a:r>
              <a:t>Variables, procedimiento de muestreo, métricas y plan de validación con cafés no vistos.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897880"/>
            <a:ext cx="1100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475462"/>
                </a:solidFill>
              </a:defRPr>
            </a:pPr>
            <a:r>
              <a:t>Distinguir clasificación de muestras, predicción de calidad y generalización a muestras nuevas.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C3048"/>
                </a:solidFill>
              </a:defRPr>
            </a:pPr>
            <a:r>
              <a:t>Caso E-Nose · Café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961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007584"/>
                </a:solidFill>
              </a:defRPr>
            </a:pPr>
            <a:r>
              <a:t>Sistema embebido con inferencia sobre perfiles sensoriales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3553968" cy="4160520"/>
          </a:xfrm>
          <a:prstGeom prst="roundRect">
            <a:avLst/>
          </a:prstGeom>
          <a:solidFill>
            <a:srgbClr val="EDF6F8"/>
          </a:solidFill>
          <a:ln>
            <a:solidFill>
              <a:srgbClr val="BC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94944" y="1856231"/>
            <a:ext cx="326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C3048"/>
                </a:solidFill>
              </a:defRPr>
            </a:pPr>
            <a:r>
              <a:t>Base documental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2578608"/>
            <a:ext cx="3261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374650"/>
                </a:solidFill>
              </a:defRPr>
            </a:pPr>
            <a:r>
              <a:t>Se plantea obtener huellas quimiosensoriales de compuestos volátiles y relacionarlas con evaluaciones de catadores y estudios químicos.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03775" y="1645920"/>
            <a:ext cx="3553968" cy="4160520"/>
          </a:xfrm>
          <a:prstGeom prst="roundRect">
            <a:avLst/>
          </a:prstGeom>
          <a:solidFill>
            <a:srgbClr val="EDF6F8"/>
          </a:solidFill>
          <a:ln>
            <a:solidFill>
              <a:srgbClr val="BC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50080" y="1856231"/>
            <a:ext cx="326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C3048"/>
                </a:solidFill>
              </a:defRPr>
            </a:pPr>
            <a:r>
              <a:t>Método propuesto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50080" y="2578608"/>
            <a:ext cx="3261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374650"/>
                </a:solidFill>
              </a:defRPr>
            </a:pPr>
            <a:r>
              <a:t>Ingeniería de sistemas para la arquitectura + diseño experimental para muestras y factores + evaluación predictiva independiente.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58911" y="1645920"/>
            <a:ext cx="3553968" cy="4160520"/>
          </a:xfrm>
          <a:prstGeom prst="roundRect">
            <a:avLst/>
          </a:prstGeom>
          <a:solidFill>
            <a:srgbClr val="EDF6F8"/>
          </a:solidFill>
          <a:ln>
            <a:solidFill>
              <a:srgbClr val="BC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05215" y="1856231"/>
            <a:ext cx="326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C3048"/>
                </a:solidFill>
              </a:defRPr>
            </a:pPr>
            <a:r>
              <a:t>Decisiones U3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05215" y="2578608"/>
            <a:ext cx="3261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374650"/>
                </a:solidFill>
              </a:defRPr>
            </a:pPr>
            <a:r>
              <a:t>Definir “calidad” operacionalmente, protocolo de muestreo, referencias, partición de datos, métricas y riesgos de confusión.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080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74650"/>
                </a:solidFill>
              </a:defRPr>
            </a:pPr>
            <a:r>
              <a:t>Fuente: GitHub E-Nose-Cafe, U2.1; marcos: INCOSE (2023), Montgomery (2019).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27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63146"/>
                </a:solidFill>
              </a:defRPr>
            </a:pPr>
            <a:r>
              <a:t>Caso 3 · Manual fotovoltaico rural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234440"/>
            <a:ext cx="3618992" cy="3566160"/>
          </a:xfrm>
          <a:prstGeom prst="rect">
            <a:avLst/>
          </a:prstGeom>
          <a:solidFill>
            <a:srgbClr val="E2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3344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63146"/>
                </a:solidFill>
              </a:defRPr>
            </a:pPr>
            <a:r>
              <a:t>Investigación documental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334467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63146"/>
                </a:solidFill>
              </a:defRPr>
            </a:pPr>
            <a:r>
              <a:t>Revisar normas, guías, seguridad y prácticas pertinentes.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286504" y="1234440"/>
            <a:ext cx="3618992" cy="3566160"/>
          </a:xfrm>
          <a:prstGeom prst="rect">
            <a:avLst/>
          </a:prstGeom>
          <a:solidFill>
            <a:srgbClr val="E2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423664" y="1417320"/>
            <a:ext cx="3344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63146"/>
                </a:solidFill>
              </a:defRPr>
            </a:pPr>
            <a:r>
              <a:t>Análisis de procesos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23664" y="2148840"/>
            <a:ext cx="334467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63146"/>
                </a:solidFill>
              </a:defRPr>
            </a:pPr>
            <a:r>
              <a:t>Descomponer instalación en fases, decisiones, responsables y riesgos.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70088" y="1234440"/>
            <a:ext cx="3618992" cy="3566160"/>
          </a:xfrm>
          <a:prstGeom prst="rect">
            <a:avLst/>
          </a:prstGeom>
          <a:solidFill>
            <a:srgbClr val="E2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07248" y="1417320"/>
            <a:ext cx="3344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63146"/>
                </a:solidFill>
              </a:defRPr>
            </a:pPr>
            <a:r>
              <a:t>Estandarización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07248" y="2148840"/>
            <a:ext cx="334467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63146"/>
                </a:solidFill>
              </a:defRPr>
            </a:pPr>
            <a:r>
              <a:t>Redactar instrucciones, diagramas, registros y listas de verificación.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897880"/>
            <a:ext cx="1100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475462"/>
                </a:solidFill>
              </a:defRPr>
            </a:pPr>
            <a:r>
              <a:t>El entregable central es un manual de procedimientos; no se exige instalar un sistema durante TDTA III.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27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63146"/>
                </a:solidFill>
              </a:defRPr>
            </a:pPr>
            <a:r>
              <a:t>Manual fotovoltaico · Cómo validarlo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234440"/>
            <a:ext cx="3618992" cy="3566160"/>
          </a:xfrm>
          <a:prstGeom prst="rect">
            <a:avLst/>
          </a:prstGeom>
          <a:solidFill>
            <a:srgbClr val="E2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3344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63146"/>
                </a:solidFill>
              </a:defRPr>
            </a:pPr>
            <a:r>
              <a:t>Revisión experta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334467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63146"/>
                </a:solidFill>
              </a:defRPr>
            </a:pPr>
            <a:r>
              <a:t>Comprobar exactitud técnica, seguridad, claridad y cobertura.</a:t>
            </a:r>
          </a:p>
        </p:txBody>
      </p:sp>
      <p:sp>
        <p:nvSpPr>
          <p:cNvPr id="6" name="Rectangle 5"/>
          <p:cNvSpPr/>
          <p:nvPr/>
        </p:nvSpPr>
        <p:spPr>
          <a:xfrm>
            <a:off x="4286504" y="1234440"/>
            <a:ext cx="3618992" cy="3566160"/>
          </a:xfrm>
          <a:prstGeom prst="rect">
            <a:avLst/>
          </a:prstGeom>
          <a:solidFill>
            <a:srgbClr val="E2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423664" y="1417320"/>
            <a:ext cx="3344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63146"/>
                </a:solidFill>
              </a:defRPr>
            </a:pPr>
            <a:r>
              <a:t>Prueba de uso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23664" y="2148840"/>
            <a:ext cx="334467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63146"/>
                </a:solidFill>
              </a:defRPr>
            </a:pPr>
            <a:r>
              <a:t>Aplicar escenarios o revisión guiada con usuarios previstos.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70088" y="1234440"/>
            <a:ext cx="3618992" cy="3566160"/>
          </a:xfrm>
          <a:prstGeom prst="rect">
            <a:avLst/>
          </a:prstGeom>
          <a:solidFill>
            <a:srgbClr val="E2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07248" y="1417320"/>
            <a:ext cx="3344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63146"/>
                </a:solidFill>
              </a:defRPr>
            </a:pPr>
            <a:r>
              <a:t>Control documental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07248" y="2148840"/>
            <a:ext cx="334467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63146"/>
                </a:solidFill>
              </a:defRPr>
            </a:pPr>
            <a:r>
              <a:t>Versiones, responsables, referencias normativas y cambios.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897880"/>
            <a:ext cx="1100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475462"/>
                </a:solidFill>
              </a:defRPr>
            </a:pPr>
            <a:r>
              <a:t>Producto U3: metodología de elaboración y validación del manual, alcance y entregables definidos.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C3048"/>
                </a:solidFill>
              </a:defRPr>
            </a:pPr>
            <a:r>
              <a:t>Caso manual fotovoltaico rural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961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007584"/>
                </a:solidFill>
              </a:defRPr>
            </a:pPr>
            <a:r>
              <a:t>El entregable es un procedimiento estandarizado, no una instalación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3553968" cy="4160520"/>
          </a:xfrm>
          <a:prstGeom prst="roundRect">
            <a:avLst/>
          </a:prstGeom>
          <a:solidFill>
            <a:srgbClr val="EDF6F8"/>
          </a:solidFill>
          <a:ln>
            <a:solidFill>
              <a:srgbClr val="BC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94944" y="1856231"/>
            <a:ext cx="326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C3048"/>
                </a:solidFill>
              </a:defRPr>
            </a:pPr>
            <a:r>
              <a:t>Base documental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2578608"/>
            <a:ext cx="3261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374650"/>
                </a:solidFill>
              </a:defRPr>
            </a:pPr>
            <a:r>
              <a:t>El resumen aborda sistemas aislados, dimensionamiento, seguridad, mantenimiento y capacitación comunitaria.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03775" y="1645920"/>
            <a:ext cx="3553968" cy="4160520"/>
          </a:xfrm>
          <a:prstGeom prst="roundRect">
            <a:avLst/>
          </a:prstGeom>
          <a:solidFill>
            <a:srgbClr val="EDF6F8"/>
          </a:solidFill>
          <a:ln>
            <a:solidFill>
              <a:srgbClr val="BC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50080" y="1856231"/>
            <a:ext cx="326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C3048"/>
                </a:solidFill>
              </a:defRPr>
            </a:pPr>
            <a:r>
              <a:t>Método propuesto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50080" y="2578608"/>
            <a:ext cx="3261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374650"/>
                </a:solidFill>
              </a:defRPr>
            </a:pPr>
            <a:r>
              <a:t>Revisión documental y normativa → mapa de procesos → análisis de riesgos → procedimientos y listas → revisión experta → prueba de uso.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58911" y="1645920"/>
            <a:ext cx="3553968" cy="4160520"/>
          </a:xfrm>
          <a:prstGeom prst="roundRect">
            <a:avLst/>
          </a:prstGeom>
          <a:solidFill>
            <a:srgbClr val="EDF6F8"/>
          </a:solidFill>
          <a:ln>
            <a:solidFill>
              <a:srgbClr val="BC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05215" y="1856231"/>
            <a:ext cx="326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C3048"/>
                </a:solidFill>
              </a:defRPr>
            </a:pPr>
            <a:r>
              <a:t>Decisiones U3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05215" y="2578608"/>
            <a:ext cx="3261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374650"/>
                </a:solidFill>
              </a:defRPr>
            </a:pPr>
            <a:r>
              <a:t>Definir alcance del manual, usuarios, jerarquía de fuentes, criterios de seguridad, formato de instrucciones y rúbrica de validación.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080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74650"/>
                </a:solidFill>
              </a:defRPr>
            </a:pPr>
            <a:r>
              <a:t>Fuente: GitHub Eq6-Electricidad-Rural; enfoque por procesos ISO 9001:2015.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27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63146"/>
                </a:solidFill>
              </a:defRPr>
            </a:pPr>
            <a:r>
              <a:t>Tres proyectos · Tres rutas de evidencia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234440"/>
            <a:ext cx="3618992" cy="3566160"/>
          </a:xfrm>
          <a:prstGeom prst="rect">
            <a:avLst/>
          </a:prstGeom>
          <a:solidFill>
            <a:srgbClr val="E2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3344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63146"/>
                </a:solidFill>
              </a:defRPr>
            </a:pPr>
            <a:r>
              <a:t>Robot Delta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334467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63146"/>
                </a:solidFill>
              </a:defRPr>
            </a:pPr>
            <a:r>
              <a:t>Requisitos → arquitectura → simulación prevista → plan de pruebas.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286504" y="1234440"/>
            <a:ext cx="3618992" cy="3566160"/>
          </a:xfrm>
          <a:prstGeom prst="rect">
            <a:avLst/>
          </a:prstGeom>
          <a:solidFill>
            <a:srgbClr val="E2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423664" y="1417320"/>
            <a:ext cx="3344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63146"/>
                </a:solidFill>
              </a:defRPr>
            </a:pPr>
            <a:r>
              <a:t>E-Nose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23664" y="2148840"/>
            <a:ext cx="334467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63146"/>
                </a:solidFill>
              </a:defRPr>
            </a:pPr>
            <a:r>
              <a:t>Variables → muestreo → sensores y datos → validación del modelo.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70088" y="1234440"/>
            <a:ext cx="3618992" cy="3566160"/>
          </a:xfrm>
          <a:prstGeom prst="rect">
            <a:avLst/>
          </a:prstGeom>
          <a:solidFill>
            <a:srgbClr val="E2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07248" y="1417320"/>
            <a:ext cx="3344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63146"/>
                </a:solidFill>
              </a:defRPr>
            </a:pPr>
            <a:r>
              <a:t>Manual solar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07248" y="2148840"/>
            <a:ext cx="334467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63146"/>
                </a:solidFill>
              </a:defRPr>
            </a:pPr>
            <a:r>
              <a:t>Fuentes → procesos → procedimientos → revisión experta.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897880"/>
            <a:ext cx="1100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475462"/>
                </a:solidFill>
              </a:defRPr>
            </a:pPr>
            <a:r>
              <a:t>En TDTA III se planifica y fundamenta; la ejecución principal corresponde a TDTA IV y V.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02920" y="347472"/>
            <a:ext cx="11247120" cy="530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2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Ejercicio de clase: selecciona y justifica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30352" y="950976"/>
            <a:ext cx="11064240" cy="4754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268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equipos, responder antes de comenzar a escribir la metodología.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30352" y="6519672"/>
            <a:ext cx="1005840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268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TDTA III · Ingeniería en Automatización · UAQ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856232"/>
            <a:ext cx="118872" cy="118872"/>
          </a:xfrm>
          <a:prstGeom prst="ellipse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1033272" y="1737360"/>
            <a:ext cx="10424160" cy="594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20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tipo de proyecto desarrollamos y cuál es su resultado principal?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731520" y="2642616"/>
            <a:ext cx="118872" cy="118872"/>
          </a:xfrm>
          <a:prstGeom prst="ellipse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1033272" y="2523744"/>
            <a:ext cx="10424160" cy="594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20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enfoque metodológico responde mejor al objetivo? ¿Por qué?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31520" y="3429000"/>
            <a:ext cx="118872" cy="118872"/>
          </a:xfrm>
          <a:prstGeom prst="ellipse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1033272" y="3310128"/>
            <a:ext cx="10424160" cy="594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20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¿Cuáles son las etapas, actividades y evidencias?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731520" y="4215384"/>
            <a:ext cx="118872" cy="118872"/>
          </a:xfrm>
          <a:prstGeom prst="ellipse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1033272" y="4096512"/>
            <a:ext cx="10424160" cy="594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20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verificaremos en TDTA IV y validaremos en TDTA V?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731520" y="5001768"/>
            <a:ext cx="118872" cy="118872"/>
          </a:xfrm>
          <a:prstGeom prst="ellipse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1033272" y="4882896"/>
            <a:ext cx="10424160" cy="594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20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partes ya están realizadas (Ruta A) y cuáles faltan?</a:t>
            </a:r>
            <a:endParaRPr lang="en-US" sz="1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27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63146"/>
                </a:solidFill>
              </a:defRPr>
            </a:pPr>
            <a:r>
              <a:t>Actividad de clase · Unidad 3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234440"/>
            <a:ext cx="3618992" cy="3566160"/>
          </a:xfrm>
          <a:prstGeom prst="rect">
            <a:avLst/>
          </a:prstGeom>
          <a:solidFill>
            <a:srgbClr val="E2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3344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63146"/>
                </a:solidFill>
              </a:defRPr>
            </a:pPr>
            <a:r>
              <a:t>1. Seleccionar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334467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63146"/>
                </a:solidFill>
              </a:defRPr>
            </a:pPr>
            <a:r>
              <a:t>Elegir metodología principal y enfoques complementarios.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286504" y="1234440"/>
            <a:ext cx="3618992" cy="3566160"/>
          </a:xfrm>
          <a:prstGeom prst="rect">
            <a:avLst/>
          </a:prstGeom>
          <a:solidFill>
            <a:srgbClr val="E2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423664" y="1417320"/>
            <a:ext cx="3344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63146"/>
                </a:solidFill>
              </a:defRPr>
            </a:pPr>
            <a:r>
              <a:t>2. Justificar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23664" y="2148840"/>
            <a:ext cx="334467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63146"/>
                </a:solidFill>
              </a:defRPr>
            </a:pPr>
            <a:r>
              <a:t>Explicar por qué corresponde al problema y a los objetivos.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70088" y="1234440"/>
            <a:ext cx="3618992" cy="3566160"/>
          </a:xfrm>
          <a:prstGeom prst="rect">
            <a:avLst/>
          </a:prstGeom>
          <a:solidFill>
            <a:srgbClr val="E2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07248" y="1417320"/>
            <a:ext cx="3344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63146"/>
                </a:solidFill>
              </a:defRPr>
            </a:pPr>
            <a:r>
              <a:t>3. Entregar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07248" y="2148840"/>
            <a:ext cx="334467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63146"/>
                </a:solidFill>
              </a:defRPr>
            </a:pPr>
            <a:r>
              <a:t>Etapas, procedimientos, criterios de aceptación y matriz de trazabilidad.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897880"/>
            <a:ext cx="1100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475462"/>
                </a:solidFill>
              </a:defRPr>
            </a:pPr>
            <a:r>
              <a:t>Rúbrica U3: coherencia 35 %, requisitos/preguntas 25 %, alcance 25 %, trazabilidad 15 %.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C3048"/>
                </a:solidFill>
              </a:defRPr>
            </a:pPr>
            <a:r>
              <a:t>Unidad 3 · Qué entregar en las dos rutas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961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007584"/>
                </a:solidFill>
              </a:defRPr>
            </a:pPr>
            <a:r>
              <a:t>El método debe producir evidencia y ser viable en TDTA IV–V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3553968" cy="4160520"/>
          </a:xfrm>
          <a:prstGeom prst="roundRect">
            <a:avLst/>
          </a:prstGeom>
          <a:solidFill>
            <a:srgbClr val="EDF6F8"/>
          </a:solidFill>
          <a:ln>
            <a:solidFill>
              <a:srgbClr val="BC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94944" y="1856231"/>
            <a:ext cx="326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C3048"/>
                </a:solidFill>
              </a:defRPr>
            </a:pPr>
            <a:r>
              <a:t>Ruta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2578608"/>
            <a:ext cx="3261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374650"/>
                </a:solidFill>
              </a:defRPr>
            </a:pPr>
            <a:r>
              <a:t>Auditar métodos previos, identificar lagunas, justificar cambios, actualizar variables/requisitos y pruebas.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03775" y="1645920"/>
            <a:ext cx="3553968" cy="4160520"/>
          </a:xfrm>
          <a:prstGeom prst="roundRect">
            <a:avLst/>
          </a:prstGeom>
          <a:solidFill>
            <a:srgbClr val="EDF6F8"/>
          </a:solidFill>
          <a:ln>
            <a:solidFill>
              <a:srgbClr val="BC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50080" y="1856231"/>
            <a:ext cx="326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C3048"/>
                </a:solidFill>
              </a:defRPr>
            </a:pPr>
            <a:r>
              <a:t>Ruta 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50080" y="2578608"/>
            <a:ext cx="3261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374650"/>
                </a:solidFill>
              </a:defRPr>
            </a:pPr>
            <a:r>
              <a:t>Seleccionar enfoque, describir etapas y procedimientos, definir requisitos/variables, entregables y criterios.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58911" y="1645920"/>
            <a:ext cx="3553968" cy="4160520"/>
          </a:xfrm>
          <a:prstGeom prst="roundRect">
            <a:avLst/>
          </a:prstGeom>
          <a:solidFill>
            <a:srgbClr val="EDF6F8"/>
          </a:solidFill>
          <a:ln>
            <a:solidFill>
              <a:srgbClr val="BC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05215" y="1856231"/>
            <a:ext cx="326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C3048"/>
                </a:solidFill>
              </a:defRPr>
            </a:pPr>
            <a:r>
              <a:t>Rúbrica U3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05215" y="2578608"/>
            <a:ext cx="3261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374650"/>
                </a:solidFill>
              </a:defRPr>
            </a:pPr>
            <a:r>
              <a:t>Coherencia metodológica 35%; requisitos/preguntas 25%; alcance/entregables 25%; trazabilidad 15%.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080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74650"/>
                </a:solidFill>
              </a:defRPr>
            </a:pPr>
            <a:r>
              <a:t>Fuente: Syllabus integral TDTA III, Unidad 3, semanas 7–9.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02920" y="347472"/>
            <a:ext cx="11247120" cy="530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2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Referencias y alcance de esta guía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30352" y="950976"/>
            <a:ext cx="11064240" cy="4754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268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metodologías mostradas son opciones orientativas, no una lista obligatoria.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30352" y="6519672"/>
            <a:ext cx="1005840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268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TDTA III · Ingeniería en Automatización · UAQ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856232"/>
            <a:ext cx="118872" cy="118872"/>
          </a:xfrm>
          <a:prstGeom prst="ellipse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1033272" y="1737360"/>
            <a:ext cx="10424160" cy="594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20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Syllabus integral TDTA III, secciones 4, 6, 7 y 11.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731520" y="2642616"/>
            <a:ext cx="118872" cy="118872"/>
          </a:xfrm>
          <a:prstGeom prst="ellipse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1033272" y="2523744"/>
            <a:ext cx="10424160" cy="594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20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INCOSE. Systems Engineering Handbook (referencia del syllabus: 2023).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31520" y="3429000"/>
            <a:ext cx="118872" cy="118872"/>
          </a:xfrm>
          <a:prstGeom prst="ellipse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1033272" y="3310128"/>
            <a:ext cx="10424160" cy="594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20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PMI. PMBOK Guide, 7.ª ed. (2021).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731520" y="4215384"/>
            <a:ext cx="118872" cy="118872"/>
          </a:xfrm>
          <a:prstGeom prst="ellipse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1033272" y="4096512"/>
            <a:ext cx="10424160" cy="594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20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Ulrich, Eppinger y Yang. Product Design and Development (2020).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731520" y="5001768"/>
            <a:ext cx="118872" cy="118872"/>
          </a:xfrm>
          <a:prstGeom prst="ellipse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1033272" y="4882896"/>
            <a:ext cx="10424160" cy="594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20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Pahl y colaboradores. Engineering Design: A Systematic Approach (2007).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731520" y="5788152"/>
            <a:ext cx="118872" cy="118872"/>
          </a:xfrm>
          <a:prstGeom prst="ellipse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1033272" y="5669280"/>
            <a:ext cx="10424160" cy="594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20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Enfoques de investigación e innovación: ampliación didáctica, no enumerados en el syllabus.</a:t>
            </a:r>
            <a:endParaRPr lang="en-US" sz="1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27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63146"/>
                </a:solidFill>
              </a:defRPr>
            </a:pPr>
            <a:r>
              <a:t>Fuentes y límites de los ejemplos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234440"/>
            <a:ext cx="3618992" cy="3566160"/>
          </a:xfrm>
          <a:prstGeom prst="rect">
            <a:avLst/>
          </a:prstGeom>
          <a:solidFill>
            <a:srgbClr val="E2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3344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63146"/>
                </a:solidFill>
              </a:defRPr>
            </a:pPr>
            <a:r>
              <a:t>Syllabus TDTA III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334467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63146"/>
                </a:solidFill>
              </a:defRPr>
            </a:pPr>
            <a:r>
              <a:t>Unidad 3: semanas 7–9, plan metodológico y alcance.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286504" y="1234440"/>
            <a:ext cx="3618992" cy="3566160"/>
          </a:xfrm>
          <a:prstGeom prst="rect">
            <a:avLst/>
          </a:prstGeom>
          <a:solidFill>
            <a:srgbClr val="E2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423664" y="1417320"/>
            <a:ext cx="3344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63146"/>
                </a:solidFill>
              </a:defRPr>
            </a:pPr>
            <a:r>
              <a:t>Repositorios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23664" y="2148840"/>
            <a:ext cx="334467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63146"/>
                </a:solidFill>
              </a:defRPr>
            </a:pPr>
            <a:r>
              <a:t>E-Nose-Cafe: docs/U2/u2.1 Problema_necesidad.md</a:t>
            </a:r>
          </a:p>
          <a:p>
            <a:pPr>
              <a:defRPr sz="1500" b="0">
                <a:solidFill>
                  <a:srgbClr val="163146"/>
                </a:solidFill>
              </a:defRPr>
            </a:pPr>
            <a:r>
              <a:t>Electricidad Rural: Resumen de Instalaciones Fotovoltaicas.md</a:t>
            </a:r>
          </a:p>
        </p:txBody>
      </p:sp>
      <p:sp>
        <p:nvSpPr>
          <p:cNvPr id="9" name="Rectangle 8"/>
          <p:cNvSpPr/>
          <p:nvPr/>
        </p:nvSpPr>
        <p:spPr>
          <a:xfrm>
            <a:off x="8070088" y="1234440"/>
            <a:ext cx="3618992" cy="3566160"/>
          </a:xfrm>
          <a:prstGeom prst="rect">
            <a:avLst/>
          </a:prstGeom>
          <a:solidFill>
            <a:srgbClr val="E2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07248" y="1417320"/>
            <a:ext cx="3344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63146"/>
                </a:solidFill>
              </a:defRPr>
            </a:pPr>
            <a:r>
              <a:t>Robot Delta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07248" y="2148840"/>
            <a:ext cx="334467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63146"/>
                </a:solidFill>
              </a:defRPr>
            </a:pPr>
            <a:r>
              <a:t>La ruta docs/U2 no fue accesible en la consulta; ejemplo ilustrativo sujeto a revisión.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897880"/>
            <a:ext cx="1100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475462"/>
                </a:solidFill>
              </a:defRPr>
            </a:pPr>
            <a:r>
              <a:t>Los enfoques son recomendaciones didácticas. Verificar normatividad vigente antes de usar un manual para instalaciones reales.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C3048"/>
                </a:solidFill>
              </a:defRPr>
            </a:pPr>
            <a:r>
              <a:t>Bibliografía básica para profundizar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961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007584"/>
                </a:solidFill>
              </a:defRPr>
            </a:pPr>
            <a:r>
              <a:t>Fuentes académicas y técnicas de referencia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3553968" cy="4160520"/>
          </a:xfrm>
          <a:prstGeom prst="roundRect">
            <a:avLst/>
          </a:prstGeom>
          <a:solidFill>
            <a:srgbClr val="EDF6F8"/>
          </a:solidFill>
          <a:ln>
            <a:solidFill>
              <a:srgbClr val="BC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94944" y="1856231"/>
            <a:ext cx="326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C3048"/>
                </a:solidFill>
              </a:defRPr>
            </a:pPr>
            <a:r>
              <a:t>Investigación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2578608"/>
            <a:ext cx="3261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374650"/>
                </a:solidFill>
              </a:defRPr>
            </a:pPr>
            <a:r>
              <a:t>Creswell &amp; Creswell (2018). Research Design. SAGE.</a:t>
            </a:r>
          </a:p>
          <a:p>
            <a:pPr>
              <a:defRPr sz="1600" b="0">
                <a:solidFill>
                  <a:srgbClr val="374650"/>
                </a:solidFill>
              </a:defRPr>
            </a:pPr>
            <a:r>
              <a:t>Montgomery (2019). Design and Analysis of Experiments. Wiley.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03775" y="1645920"/>
            <a:ext cx="3553968" cy="4160520"/>
          </a:xfrm>
          <a:prstGeom prst="roundRect">
            <a:avLst/>
          </a:prstGeom>
          <a:solidFill>
            <a:srgbClr val="EDF6F8"/>
          </a:solidFill>
          <a:ln>
            <a:solidFill>
              <a:srgbClr val="BC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50080" y="1856231"/>
            <a:ext cx="326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C3048"/>
                </a:solidFill>
              </a:defRPr>
            </a:pPr>
            <a:r>
              <a:t>Ingeniería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50080" y="2578608"/>
            <a:ext cx="3261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374650"/>
                </a:solidFill>
              </a:defRPr>
            </a:pPr>
            <a:r>
              <a:t>INCOSE (2023). Systems Engineering Handbook. Wiley.</a:t>
            </a:r>
          </a:p>
          <a:p>
            <a:pPr>
              <a:defRPr sz="1600" b="0">
                <a:solidFill>
                  <a:srgbClr val="374650"/>
                </a:solidFill>
              </a:defRPr>
            </a:pPr>
            <a:r>
              <a:t>Pahl et al. (2007). Engineering Design. Springer.</a:t>
            </a:r>
          </a:p>
          <a:p>
            <a:pPr>
              <a:defRPr sz="1600" b="0">
                <a:solidFill>
                  <a:srgbClr val="374650"/>
                </a:solidFill>
              </a:defRPr>
            </a:pPr>
            <a:r>
              <a:t>Ulrich et al. (2020). Product Design and Development.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58911" y="1645920"/>
            <a:ext cx="3553968" cy="4160520"/>
          </a:xfrm>
          <a:prstGeom prst="roundRect">
            <a:avLst/>
          </a:prstGeom>
          <a:solidFill>
            <a:srgbClr val="EDF6F8"/>
          </a:solidFill>
          <a:ln>
            <a:solidFill>
              <a:srgbClr val="BC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05215" y="1856231"/>
            <a:ext cx="326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C3048"/>
                </a:solidFill>
              </a:defRPr>
            </a:pPr>
            <a:r>
              <a:t>Procesos y participación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05215" y="2578608"/>
            <a:ext cx="3261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374650"/>
                </a:solidFill>
              </a:defRPr>
            </a:pPr>
            <a:r>
              <a:t>ISO 9001:2015. Quality management systems.</a:t>
            </a:r>
          </a:p>
          <a:p>
            <a:pPr>
              <a:defRPr sz="1600" b="0">
                <a:solidFill>
                  <a:srgbClr val="374650"/>
                </a:solidFill>
              </a:defRPr>
            </a:pPr>
            <a:r>
              <a:t>Kemmis et al. (2014). The Action Research Planner.</a:t>
            </a:r>
          </a:p>
          <a:p>
            <a:pPr>
              <a:defRPr sz="1600" b="0">
                <a:solidFill>
                  <a:srgbClr val="374650"/>
                </a:solidFill>
              </a:defRPr>
            </a:pPr>
            <a:r>
              <a:t>Brown (2009). Change by Design.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080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74650"/>
                </a:solidFill>
              </a:defRPr>
            </a:pPr>
            <a:r>
              <a:t>Las normas y fuentes deben comprobarse en su versión aplicable al proyecto.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3673</Words>
  <Application>Microsoft Office PowerPoint</Application>
  <PresentationFormat>Widescreen</PresentationFormat>
  <Paragraphs>435</Paragraphs>
  <Slides>43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Metodologías por modalidad de proyecto</dc:subject>
  <dc:creator>Material docente TDTA III</dc:creator>
  <cp:lastModifiedBy>Adriana Rojas</cp:lastModifiedBy>
  <cp:revision>2</cp:revision>
  <dcterms:created xsi:type="dcterms:W3CDTF">2026-10-21T16:18:21Z</dcterms:created>
  <dcterms:modified xsi:type="dcterms:W3CDTF">2026-10-21T17:03:24Z</dcterms:modified>
</cp:coreProperties>
</file>